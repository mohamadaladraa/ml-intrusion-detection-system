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33"/>
  </p:notesMasterIdLst>
  <p:sldIdLst>
    <p:sldId id="256" r:id="rId2"/>
    <p:sldId id="257" r:id="rId3"/>
    <p:sldId id="261" r:id="rId4"/>
    <p:sldId id="263" r:id="rId5"/>
    <p:sldId id="303" r:id="rId6"/>
    <p:sldId id="304" r:id="rId7"/>
    <p:sldId id="272" r:id="rId8"/>
    <p:sldId id="259" r:id="rId9"/>
    <p:sldId id="297" r:id="rId10"/>
    <p:sldId id="306" r:id="rId11"/>
    <p:sldId id="307" r:id="rId12"/>
    <p:sldId id="308" r:id="rId13"/>
    <p:sldId id="309" r:id="rId14"/>
    <p:sldId id="310" r:id="rId15"/>
    <p:sldId id="311" r:id="rId16"/>
    <p:sldId id="312" r:id="rId17"/>
    <p:sldId id="293" r:id="rId18"/>
    <p:sldId id="298" r:id="rId19"/>
    <p:sldId id="294" r:id="rId20"/>
    <p:sldId id="313" r:id="rId21"/>
    <p:sldId id="314" r:id="rId22"/>
    <p:sldId id="299" r:id="rId23"/>
    <p:sldId id="295" r:id="rId24"/>
    <p:sldId id="300" r:id="rId25"/>
    <p:sldId id="296" r:id="rId26"/>
    <p:sldId id="264" r:id="rId27"/>
    <p:sldId id="274" r:id="rId28"/>
    <p:sldId id="315" r:id="rId29"/>
    <p:sldId id="316" r:id="rId30"/>
    <p:sldId id="278" r:id="rId31"/>
    <p:sldId id="280" r:id="rId32"/>
  </p:sldIdLst>
  <p:sldSz cx="9144000" cy="5143500" type="screen16x9"/>
  <p:notesSz cx="6858000" cy="9144000"/>
  <p:embeddedFontLst>
    <p:embeddedFont>
      <p:font typeface="Cambria" pitchFamily="18" charset="0"/>
      <p:regular r:id="rId34"/>
      <p:bold r:id="rId35"/>
      <p:italic r:id="rId36"/>
      <p:boldItalic r:id="rId37"/>
    </p:embeddedFont>
    <p:embeddedFont>
      <p:font typeface="Roboto Condensed Light" charset="0"/>
      <p:regular r:id="rId38"/>
      <p:bold r:id="rId39"/>
      <p:italic r:id="rId40"/>
      <p:boldItalic r:id="rId41"/>
    </p:embeddedFont>
    <p:embeddedFont>
      <p:font typeface="Roboto Condensed" charset="0"/>
      <p:regular r:id="rId42"/>
      <p:bold r:id="rId43"/>
      <p:italic r:id="rId44"/>
      <p:boldItalic r:id="rId45"/>
    </p:embeddedFont>
    <p:embeddedFont>
      <p:font typeface="Arvo"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E27665BA-8202-44FC-AD62-C9F0E3EA811A}">
  <a:tblStyle styleId="{E27665BA-8202-44FC-AD62-C9F0E3EA811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5DE48A-E3B5-44D0-98CB-AE0B3FDC037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79006" autoAdjust="0"/>
  </p:normalViewPr>
  <p:slideViewPr>
    <p:cSldViewPr>
      <p:cViewPr varScale="1">
        <p:scale>
          <a:sx n="90" d="100"/>
          <a:sy n="90" d="100"/>
        </p:scale>
        <p:origin x="-43"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A98BBC-D49A-4753-9FA1-78FF72DCF98C}" type="doc">
      <dgm:prSet loTypeId="urn:microsoft.com/office/officeart/2005/8/layout/target2" loCatId="relationship" qsTypeId="urn:microsoft.com/office/officeart/2005/8/quickstyle/simple2" qsCatId="simple" csTypeId="urn:microsoft.com/office/officeart/2005/8/colors/accent4_3" csCatId="accent4" phldr="1"/>
      <dgm:spPr/>
      <dgm:t>
        <a:bodyPr/>
        <a:lstStyle/>
        <a:p>
          <a:endParaRPr lang="en-US"/>
        </a:p>
      </dgm:t>
    </dgm:pt>
    <dgm:pt modelId="{434B4868-72A0-453A-BDB4-B01EFE9AC62B}">
      <dgm:prSet phldrT="[Text]" custT="1"/>
      <dgm:spPr/>
      <dgm:t>
        <a:bodyPr anchor="ctr"/>
        <a:lstStyle/>
        <a:p>
          <a:pPr algn="ctr">
            <a:lnSpc>
              <a:spcPct val="100000"/>
            </a:lnSpc>
            <a:spcAft>
              <a:spcPts val="0"/>
            </a:spcAft>
          </a:pPr>
          <a:endParaRPr lang="en-US" sz="1400" b="1" dirty="0">
            <a:solidFill>
              <a:srgbClr val="C00000"/>
            </a:solidFill>
            <a:latin typeface="Cambria" pitchFamily="18" charset="0"/>
            <a:ea typeface="Cambria" pitchFamily="18" charset="0"/>
          </a:endParaRPr>
        </a:p>
        <a:p>
          <a:pPr algn="ctr">
            <a:lnSpc>
              <a:spcPct val="100000"/>
            </a:lnSpc>
            <a:spcAft>
              <a:spcPts val="0"/>
            </a:spcAft>
          </a:pPr>
          <a:endParaRPr lang="en-US" sz="1400" b="1" dirty="0">
            <a:solidFill>
              <a:srgbClr val="C00000"/>
            </a:solidFill>
            <a:latin typeface="Cambria" pitchFamily="18" charset="0"/>
            <a:ea typeface="Cambria" pitchFamily="18" charset="0"/>
          </a:endParaRPr>
        </a:p>
        <a:p>
          <a:pPr algn="ctr">
            <a:lnSpc>
              <a:spcPct val="100000"/>
            </a:lnSpc>
            <a:spcAft>
              <a:spcPts val="0"/>
            </a:spcAft>
          </a:pPr>
          <a:endParaRPr lang="en-US" sz="1400" b="1" dirty="0">
            <a:solidFill>
              <a:srgbClr val="C00000"/>
            </a:solidFill>
            <a:latin typeface="Cambria" pitchFamily="18" charset="0"/>
            <a:ea typeface="Cambria" pitchFamily="18" charset="0"/>
          </a:endParaRPr>
        </a:p>
        <a:p>
          <a:pPr algn="ctr">
            <a:lnSpc>
              <a:spcPct val="100000"/>
            </a:lnSpc>
            <a:spcAft>
              <a:spcPts val="0"/>
            </a:spcAft>
          </a:pPr>
          <a:endParaRPr lang="en-US" sz="1400" b="1" dirty="0">
            <a:solidFill>
              <a:srgbClr val="C00000"/>
            </a:solidFill>
            <a:latin typeface="Cambria" pitchFamily="18" charset="0"/>
            <a:ea typeface="Cambria" pitchFamily="18" charset="0"/>
          </a:endParaRPr>
        </a:p>
        <a:p>
          <a:pPr algn="ctr">
            <a:lnSpc>
              <a:spcPct val="100000"/>
            </a:lnSpc>
            <a:spcAft>
              <a:spcPts val="0"/>
            </a:spcAft>
          </a:pPr>
          <a:endParaRPr lang="en-US" sz="1400" b="1" dirty="0">
            <a:solidFill>
              <a:srgbClr val="C00000"/>
            </a:solidFill>
            <a:latin typeface="Cambria" pitchFamily="18" charset="0"/>
            <a:ea typeface="Cambria" pitchFamily="18" charset="0"/>
          </a:endParaRPr>
        </a:p>
        <a:p>
          <a:pPr algn="ctr">
            <a:lnSpc>
              <a:spcPct val="100000"/>
            </a:lnSpc>
            <a:spcAft>
              <a:spcPts val="0"/>
            </a:spcAft>
          </a:pPr>
          <a:r>
            <a:rPr lang="en-US" sz="1400" b="1" dirty="0">
              <a:solidFill>
                <a:schemeClr val="tx1"/>
              </a:solidFill>
              <a:latin typeface="Cambria" pitchFamily="18" charset="0"/>
              <a:ea typeface="Cambria" pitchFamily="18" charset="0"/>
            </a:rPr>
            <a:t>NSL-KDD dataset</a:t>
          </a:r>
          <a:endParaRPr lang="en-US" sz="1400" b="1" dirty="0">
            <a:solidFill>
              <a:schemeClr val="tx1"/>
            </a:solidFill>
          </a:endParaRPr>
        </a:p>
      </dgm:t>
    </dgm:pt>
    <dgm:pt modelId="{0BF608BF-8A6A-49F3-BD8D-12B1FC4B820C}" type="parTrans" cxnId="{FD9397EE-C281-4956-BA60-CF6BAC1C3F00}">
      <dgm:prSet/>
      <dgm:spPr/>
      <dgm:t>
        <a:bodyPr/>
        <a:lstStyle/>
        <a:p>
          <a:endParaRPr lang="en-US" sz="1200"/>
        </a:p>
      </dgm:t>
    </dgm:pt>
    <dgm:pt modelId="{ACF6B2DB-44B6-4D7F-83A8-369025EF2A64}" type="sibTrans" cxnId="{FD9397EE-C281-4956-BA60-CF6BAC1C3F00}">
      <dgm:prSet/>
      <dgm:spPr/>
      <dgm:t>
        <a:bodyPr/>
        <a:lstStyle/>
        <a:p>
          <a:endParaRPr lang="en-US" sz="1200"/>
        </a:p>
      </dgm:t>
    </dgm:pt>
    <dgm:pt modelId="{13120284-4090-45A3-B0EF-AEF82110996B}">
      <dgm:prSet custT="1"/>
      <dgm:spPr/>
      <dgm:t>
        <a:bodyPr anchor="ctr"/>
        <a:lstStyle/>
        <a:p>
          <a:r>
            <a:rPr lang="en-US" sz="1200" dirty="0">
              <a:latin typeface="Cambria" pitchFamily="18" charset="0"/>
              <a:ea typeface="Cambria" pitchFamily="18" charset="0"/>
            </a:rPr>
            <a:t>Used in </a:t>
          </a:r>
          <a:r>
            <a:rPr lang="en-US" sz="1200" b="0" dirty="0">
              <a:solidFill>
                <a:srgbClr val="0070C0"/>
              </a:solidFill>
              <a:latin typeface="Cambria" pitchFamily="18" charset="0"/>
              <a:ea typeface="Cambria" pitchFamily="18" charset="0"/>
            </a:rPr>
            <a:t>intrusion detection </a:t>
          </a:r>
          <a:r>
            <a:rPr lang="en-US" sz="1200" dirty="0">
              <a:solidFill>
                <a:srgbClr val="0070C0"/>
              </a:solidFill>
              <a:latin typeface="Cambria" pitchFamily="18" charset="0"/>
              <a:ea typeface="Cambria" pitchFamily="18" charset="0"/>
            </a:rPr>
            <a:t>research</a:t>
          </a:r>
        </a:p>
      </dgm:t>
    </dgm:pt>
    <dgm:pt modelId="{6BADAF59-3D4B-4311-9387-8E37AB9C98C2}" type="parTrans" cxnId="{40D3F66B-EF91-47A7-98F5-78E5D35EE2E0}">
      <dgm:prSet/>
      <dgm:spPr/>
      <dgm:t>
        <a:bodyPr/>
        <a:lstStyle/>
        <a:p>
          <a:endParaRPr lang="en-US" sz="1200"/>
        </a:p>
      </dgm:t>
    </dgm:pt>
    <dgm:pt modelId="{88DC7459-5610-4C6F-9751-87302066E4B6}" type="sibTrans" cxnId="{40D3F66B-EF91-47A7-98F5-78E5D35EE2E0}">
      <dgm:prSet/>
      <dgm:spPr/>
      <dgm:t>
        <a:bodyPr/>
        <a:lstStyle/>
        <a:p>
          <a:endParaRPr lang="en-US" sz="1200"/>
        </a:p>
      </dgm:t>
    </dgm:pt>
    <dgm:pt modelId="{44E01969-392A-4CD3-B91B-4527872FFF3E}">
      <dgm:prSet custT="1"/>
      <dgm:spPr/>
      <dgm:t>
        <a:bodyPr anchor="ctr"/>
        <a:lstStyle/>
        <a:p>
          <a:r>
            <a:rPr lang="en-US" sz="1200" dirty="0">
              <a:latin typeface="Cambria" pitchFamily="18" charset="0"/>
              <a:ea typeface="Cambria" pitchFamily="18" charset="0"/>
            </a:rPr>
            <a:t>Consists of </a:t>
          </a:r>
          <a:r>
            <a:rPr lang="en-US" sz="1200" b="0" dirty="0">
              <a:solidFill>
                <a:srgbClr val="0070C0"/>
              </a:solidFill>
              <a:latin typeface="Cambria" pitchFamily="18" charset="0"/>
              <a:ea typeface="Cambria" pitchFamily="18" charset="0"/>
            </a:rPr>
            <a:t>binary</a:t>
          </a:r>
          <a:r>
            <a:rPr lang="en-US" sz="1200" b="0" dirty="0">
              <a:latin typeface="Cambria" pitchFamily="18" charset="0"/>
              <a:ea typeface="Cambria" pitchFamily="18" charset="0"/>
            </a:rPr>
            <a:t>, </a:t>
          </a:r>
          <a:r>
            <a:rPr lang="en-US" sz="1200" b="0" dirty="0">
              <a:solidFill>
                <a:srgbClr val="0070C0"/>
              </a:solidFill>
              <a:latin typeface="Cambria" pitchFamily="18" charset="0"/>
              <a:ea typeface="Cambria" pitchFamily="18" charset="0"/>
            </a:rPr>
            <a:t>numerical</a:t>
          </a:r>
          <a:r>
            <a:rPr lang="en-US" sz="1200" b="0" dirty="0">
              <a:latin typeface="Cambria" pitchFamily="18" charset="0"/>
              <a:ea typeface="Cambria" pitchFamily="18" charset="0"/>
            </a:rPr>
            <a:t> &amp; </a:t>
          </a:r>
          <a:r>
            <a:rPr lang="en-US" sz="1200" b="0" dirty="0">
              <a:solidFill>
                <a:srgbClr val="0070C0"/>
              </a:solidFill>
              <a:latin typeface="Cambria" pitchFamily="18" charset="0"/>
              <a:ea typeface="Cambria" pitchFamily="18" charset="0"/>
            </a:rPr>
            <a:t>categorical data</a:t>
          </a:r>
        </a:p>
      </dgm:t>
    </dgm:pt>
    <dgm:pt modelId="{4692E697-F3E0-465B-BE50-EA5F0968322E}" type="parTrans" cxnId="{DD46A801-2AA4-4B32-8A81-B5A2921A8CAF}">
      <dgm:prSet/>
      <dgm:spPr/>
      <dgm:t>
        <a:bodyPr/>
        <a:lstStyle/>
        <a:p>
          <a:endParaRPr lang="en-US" sz="1200"/>
        </a:p>
      </dgm:t>
    </dgm:pt>
    <dgm:pt modelId="{709E9699-8405-4270-BC81-894D505C0AAC}" type="sibTrans" cxnId="{DD46A801-2AA4-4B32-8A81-B5A2921A8CAF}">
      <dgm:prSet/>
      <dgm:spPr/>
      <dgm:t>
        <a:bodyPr/>
        <a:lstStyle/>
        <a:p>
          <a:endParaRPr lang="en-US" sz="1200"/>
        </a:p>
      </dgm:t>
    </dgm:pt>
    <dgm:pt modelId="{66447622-ABD7-4AAD-9762-750D994C96D5}">
      <dgm:prSet custT="1"/>
      <dgm:spPr/>
      <dgm:t>
        <a:bodyPr anchor="ctr"/>
        <a:lstStyle/>
        <a:p>
          <a:r>
            <a:rPr lang="en-US" sz="1200" b="0" dirty="0">
              <a:solidFill>
                <a:srgbClr val="0070C0"/>
              </a:solidFill>
              <a:latin typeface="Cambria" pitchFamily="18" charset="0"/>
              <a:ea typeface="Cambria" pitchFamily="18" charset="0"/>
            </a:rPr>
            <a:t>Dataset's</a:t>
          </a:r>
          <a:r>
            <a:rPr lang="en-US" sz="1200" b="0" dirty="0">
              <a:latin typeface="Cambria" pitchFamily="18" charset="0"/>
              <a:ea typeface="Cambria" pitchFamily="18" charset="0"/>
            </a:rPr>
            <a:t> </a:t>
          </a:r>
          <a:r>
            <a:rPr lang="en-US" sz="1200" b="0" dirty="0">
              <a:solidFill>
                <a:srgbClr val="0070C0"/>
              </a:solidFill>
              <a:latin typeface="Cambria" pitchFamily="18" charset="0"/>
              <a:ea typeface="Cambria" pitchFamily="18" charset="0"/>
            </a:rPr>
            <a:t>input</a:t>
          </a:r>
          <a:r>
            <a:rPr lang="en-US" sz="1200" b="0" dirty="0">
              <a:latin typeface="Cambria" pitchFamily="18" charset="0"/>
              <a:ea typeface="Cambria" pitchFamily="18" charset="0"/>
            </a:rPr>
            <a:t> </a:t>
          </a:r>
          <a:r>
            <a:rPr lang="en-US" sz="1200" dirty="0">
              <a:latin typeface="Cambria" pitchFamily="18" charset="0"/>
              <a:ea typeface="Cambria" pitchFamily="18" charset="0"/>
            </a:rPr>
            <a:t>provided </a:t>
          </a:r>
          <a:r>
            <a:rPr lang="en-US" sz="1200" dirty="0">
              <a:solidFill>
                <a:srgbClr val="0070C0"/>
              </a:solidFill>
              <a:latin typeface="Cambria" pitchFamily="18" charset="0"/>
              <a:ea typeface="Cambria" pitchFamily="18" charset="0"/>
            </a:rPr>
            <a:t>as</a:t>
          </a:r>
          <a:r>
            <a:rPr lang="en-US" sz="1200" dirty="0">
              <a:latin typeface="Cambria" pitchFamily="18" charset="0"/>
              <a:ea typeface="Cambria" pitchFamily="18" charset="0"/>
            </a:rPr>
            <a:t> a </a:t>
          </a:r>
          <a:r>
            <a:rPr lang="en-US" sz="1200" b="0" dirty="0">
              <a:solidFill>
                <a:srgbClr val="0070C0"/>
              </a:solidFill>
              <a:latin typeface="Cambria" pitchFamily="18" charset="0"/>
              <a:ea typeface="Cambria" pitchFamily="18" charset="0"/>
            </a:rPr>
            <a:t>vector</a:t>
          </a:r>
          <a:r>
            <a:rPr lang="en-US" sz="1200" b="0" dirty="0">
              <a:latin typeface="Cambria" pitchFamily="18" charset="0"/>
              <a:ea typeface="Cambria" pitchFamily="18" charset="0"/>
            </a:rPr>
            <a:t> of </a:t>
          </a:r>
          <a:r>
            <a:rPr lang="en-US" sz="1200" b="0" dirty="0">
              <a:solidFill>
                <a:srgbClr val="0070C0"/>
              </a:solidFill>
              <a:latin typeface="Cambria" pitchFamily="18" charset="0"/>
              <a:ea typeface="Cambria" pitchFamily="18" charset="0"/>
            </a:rPr>
            <a:t>41 features</a:t>
          </a:r>
        </a:p>
      </dgm:t>
    </dgm:pt>
    <dgm:pt modelId="{A9DA3F94-A781-4AC6-83FC-D2C57925400E}" type="parTrans" cxnId="{B6516C1F-4663-4220-9A84-6ED4177A7AB2}">
      <dgm:prSet/>
      <dgm:spPr/>
      <dgm:t>
        <a:bodyPr/>
        <a:lstStyle/>
        <a:p>
          <a:endParaRPr lang="en-US" sz="1200"/>
        </a:p>
      </dgm:t>
    </dgm:pt>
    <dgm:pt modelId="{941F94AA-0A97-4FFF-8D07-0066A440007A}" type="sibTrans" cxnId="{B6516C1F-4663-4220-9A84-6ED4177A7AB2}">
      <dgm:prSet/>
      <dgm:spPr/>
      <dgm:t>
        <a:bodyPr/>
        <a:lstStyle/>
        <a:p>
          <a:endParaRPr lang="en-US" sz="1200"/>
        </a:p>
      </dgm:t>
    </dgm:pt>
    <dgm:pt modelId="{7457FC33-32AC-43C2-A525-BD57751ABA71}">
      <dgm:prSet custT="1"/>
      <dgm:spPr/>
      <dgm:t>
        <a:bodyPr anchor="ctr"/>
        <a:lstStyle/>
        <a:p>
          <a:r>
            <a:rPr lang="en-US" sz="1200" dirty="0">
              <a:solidFill>
                <a:srgbClr val="0070C0"/>
              </a:solidFill>
              <a:latin typeface="Cambria" pitchFamily="18" charset="0"/>
              <a:ea typeface="Cambria" pitchFamily="18" charset="0"/>
            </a:rPr>
            <a:t>Labels</a:t>
          </a:r>
          <a:r>
            <a:rPr lang="en-US" sz="1200" dirty="0">
              <a:latin typeface="Cambria" pitchFamily="18" charset="0"/>
              <a:ea typeface="Cambria" pitchFamily="18" charset="0"/>
            </a:rPr>
            <a:t> </a:t>
          </a:r>
          <a:r>
            <a:rPr lang="en-US" sz="1200" dirty="0">
              <a:solidFill>
                <a:srgbClr val="0070C0"/>
              </a:solidFill>
              <a:latin typeface="Cambria" pitchFamily="18" charset="0"/>
              <a:ea typeface="Cambria" pitchFamily="18" charset="0"/>
            </a:rPr>
            <a:t>distributed</a:t>
          </a:r>
          <a:r>
            <a:rPr lang="en-US" sz="1200" dirty="0">
              <a:latin typeface="Cambria" pitchFamily="18" charset="0"/>
              <a:ea typeface="Cambria" pitchFamily="18" charset="0"/>
            </a:rPr>
            <a:t> into </a:t>
          </a:r>
          <a:r>
            <a:rPr lang="en-US" sz="1200" dirty="0">
              <a:solidFill>
                <a:srgbClr val="0070C0"/>
              </a:solidFill>
              <a:latin typeface="Cambria" pitchFamily="18" charset="0"/>
              <a:ea typeface="Cambria" pitchFamily="18" charset="0"/>
            </a:rPr>
            <a:t>40 types </a:t>
          </a:r>
          <a:r>
            <a:rPr lang="en-US" sz="1200" dirty="0">
              <a:latin typeface="Cambria" pitchFamily="18" charset="0"/>
              <a:ea typeface="Cambria" pitchFamily="18" charset="0"/>
            </a:rPr>
            <a:t>of </a:t>
          </a:r>
          <a:r>
            <a:rPr lang="en-US" sz="1200" dirty="0">
              <a:solidFill>
                <a:srgbClr val="0070C0"/>
              </a:solidFill>
              <a:latin typeface="Cambria" pitchFamily="18" charset="0"/>
              <a:ea typeface="Cambria" pitchFamily="18" charset="0"/>
            </a:rPr>
            <a:t>attacks</a:t>
          </a:r>
        </a:p>
      </dgm:t>
    </dgm:pt>
    <dgm:pt modelId="{39303C43-1546-4291-9CFB-F213E174CF64}" type="parTrans" cxnId="{DCDE61BE-1524-49FE-A5E5-91EC3B1C5318}">
      <dgm:prSet/>
      <dgm:spPr/>
      <dgm:t>
        <a:bodyPr/>
        <a:lstStyle/>
        <a:p>
          <a:endParaRPr lang="en-US" sz="1200"/>
        </a:p>
      </dgm:t>
    </dgm:pt>
    <dgm:pt modelId="{C88A6C44-1F5E-4371-ADFD-BD4D8734A088}" type="sibTrans" cxnId="{DCDE61BE-1524-49FE-A5E5-91EC3B1C5318}">
      <dgm:prSet/>
      <dgm:spPr/>
      <dgm:t>
        <a:bodyPr/>
        <a:lstStyle/>
        <a:p>
          <a:endParaRPr lang="en-US" sz="1200"/>
        </a:p>
      </dgm:t>
    </dgm:pt>
    <dgm:pt modelId="{6247C5EC-2BDC-4E0C-BE12-9A8C1F2576C4}" type="pres">
      <dgm:prSet presAssocID="{A8A98BBC-D49A-4753-9FA1-78FF72DCF98C}" presName="Name0" presStyleCnt="0">
        <dgm:presLayoutVars>
          <dgm:chMax val="3"/>
          <dgm:chPref val="1"/>
          <dgm:dir/>
          <dgm:animLvl val="lvl"/>
          <dgm:resizeHandles/>
        </dgm:presLayoutVars>
      </dgm:prSet>
      <dgm:spPr/>
      <dgm:t>
        <a:bodyPr/>
        <a:lstStyle/>
        <a:p>
          <a:endParaRPr lang="en-US"/>
        </a:p>
      </dgm:t>
    </dgm:pt>
    <dgm:pt modelId="{EBF3927A-BCD1-46F1-928D-20846FAD2978}" type="pres">
      <dgm:prSet presAssocID="{A8A98BBC-D49A-4753-9FA1-78FF72DCF98C}" presName="outerBox" presStyleCnt="0"/>
      <dgm:spPr/>
    </dgm:pt>
    <dgm:pt modelId="{1D05F6AB-497C-43AC-B0E0-922CDC60C890}" type="pres">
      <dgm:prSet presAssocID="{A8A98BBC-D49A-4753-9FA1-78FF72DCF98C}" presName="outerBoxParent" presStyleLbl="node1" presStyleIdx="0" presStyleCnt="1" custScaleY="56757"/>
      <dgm:spPr/>
      <dgm:t>
        <a:bodyPr/>
        <a:lstStyle/>
        <a:p>
          <a:endParaRPr lang="en-US"/>
        </a:p>
      </dgm:t>
    </dgm:pt>
    <dgm:pt modelId="{D4E3986C-5093-4124-8B2D-3766318392C4}" type="pres">
      <dgm:prSet presAssocID="{A8A98BBC-D49A-4753-9FA1-78FF72DCF98C}" presName="outerBoxChildren" presStyleCnt="0"/>
      <dgm:spPr/>
    </dgm:pt>
    <dgm:pt modelId="{E6AEE315-285F-4260-BECB-70FBE1A9FA96}" type="pres">
      <dgm:prSet presAssocID="{13120284-4090-45A3-B0EF-AEF82110996B}" presName="oChild" presStyleLbl="fgAcc1" presStyleIdx="0" presStyleCnt="4" custScaleY="86486" custLinFactNeighborY="22973">
        <dgm:presLayoutVars>
          <dgm:bulletEnabled val="1"/>
        </dgm:presLayoutVars>
      </dgm:prSet>
      <dgm:spPr/>
      <dgm:t>
        <a:bodyPr/>
        <a:lstStyle/>
        <a:p>
          <a:endParaRPr lang="en-US"/>
        </a:p>
      </dgm:t>
    </dgm:pt>
    <dgm:pt modelId="{ED4C4678-9005-406B-87A5-E366A257D464}" type="pres">
      <dgm:prSet presAssocID="{88DC7459-5610-4C6F-9751-87302066E4B6}" presName="outerSibTrans" presStyleCnt="0"/>
      <dgm:spPr/>
    </dgm:pt>
    <dgm:pt modelId="{9D601EEF-052D-4232-8066-A6DDEFDE4250}" type="pres">
      <dgm:prSet presAssocID="{44E01969-392A-4CD3-B91B-4527872FFF3E}" presName="oChild" presStyleLbl="fgAcc1" presStyleIdx="1" presStyleCnt="4" custScaleY="86486" custLinFactNeighborY="22973">
        <dgm:presLayoutVars>
          <dgm:bulletEnabled val="1"/>
        </dgm:presLayoutVars>
      </dgm:prSet>
      <dgm:spPr/>
      <dgm:t>
        <a:bodyPr/>
        <a:lstStyle/>
        <a:p>
          <a:endParaRPr lang="en-US"/>
        </a:p>
      </dgm:t>
    </dgm:pt>
    <dgm:pt modelId="{A92577D5-BFBD-47DA-BB66-E19C2DCA1A26}" type="pres">
      <dgm:prSet presAssocID="{709E9699-8405-4270-BC81-894D505C0AAC}" presName="outerSibTrans" presStyleCnt="0"/>
      <dgm:spPr/>
    </dgm:pt>
    <dgm:pt modelId="{EF9326FB-58D7-48FF-83DC-A483A5129C93}" type="pres">
      <dgm:prSet presAssocID="{66447622-ABD7-4AAD-9762-750D994C96D5}" presName="oChild" presStyleLbl="fgAcc1" presStyleIdx="2" presStyleCnt="4" custScaleY="86486" custLinFactNeighborY="22973">
        <dgm:presLayoutVars>
          <dgm:bulletEnabled val="1"/>
        </dgm:presLayoutVars>
      </dgm:prSet>
      <dgm:spPr/>
      <dgm:t>
        <a:bodyPr/>
        <a:lstStyle/>
        <a:p>
          <a:endParaRPr lang="en-US"/>
        </a:p>
      </dgm:t>
    </dgm:pt>
    <dgm:pt modelId="{95202FE1-EB87-4B0F-A47E-BF302D88CBA2}" type="pres">
      <dgm:prSet presAssocID="{941F94AA-0A97-4FFF-8D07-0066A440007A}" presName="outerSibTrans" presStyleCnt="0"/>
      <dgm:spPr/>
    </dgm:pt>
    <dgm:pt modelId="{5BAE894E-55CD-483E-96EB-4E7FF4C7D3E5}" type="pres">
      <dgm:prSet presAssocID="{7457FC33-32AC-43C2-A525-BD57751ABA71}" presName="oChild" presStyleLbl="fgAcc1" presStyleIdx="3" presStyleCnt="4" custScaleY="86486" custLinFactNeighborY="22973">
        <dgm:presLayoutVars>
          <dgm:bulletEnabled val="1"/>
        </dgm:presLayoutVars>
      </dgm:prSet>
      <dgm:spPr/>
      <dgm:t>
        <a:bodyPr/>
        <a:lstStyle/>
        <a:p>
          <a:endParaRPr lang="en-US"/>
        </a:p>
      </dgm:t>
    </dgm:pt>
  </dgm:ptLst>
  <dgm:cxnLst>
    <dgm:cxn modelId="{B5D4B088-3530-4484-8AF9-D8EB00A02B89}" type="presOf" srcId="{A8A98BBC-D49A-4753-9FA1-78FF72DCF98C}" destId="{6247C5EC-2BDC-4E0C-BE12-9A8C1F2576C4}" srcOrd="0" destOrd="0" presId="urn:microsoft.com/office/officeart/2005/8/layout/target2"/>
    <dgm:cxn modelId="{FD9397EE-C281-4956-BA60-CF6BAC1C3F00}" srcId="{A8A98BBC-D49A-4753-9FA1-78FF72DCF98C}" destId="{434B4868-72A0-453A-BDB4-B01EFE9AC62B}" srcOrd="0" destOrd="0" parTransId="{0BF608BF-8A6A-49F3-BD8D-12B1FC4B820C}" sibTransId="{ACF6B2DB-44B6-4D7F-83A8-369025EF2A64}"/>
    <dgm:cxn modelId="{66740645-D2A1-4348-9A9A-4082AB3736E9}" type="presOf" srcId="{13120284-4090-45A3-B0EF-AEF82110996B}" destId="{E6AEE315-285F-4260-BECB-70FBE1A9FA96}" srcOrd="0" destOrd="0" presId="urn:microsoft.com/office/officeart/2005/8/layout/target2"/>
    <dgm:cxn modelId="{30D27685-1BF2-4356-ABC5-47D14E301B53}" type="presOf" srcId="{66447622-ABD7-4AAD-9762-750D994C96D5}" destId="{EF9326FB-58D7-48FF-83DC-A483A5129C93}" srcOrd="0" destOrd="0" presId="urn:microsoft.com/office/officeart/2005/8/layout/target2"/>
    <dgm:cxn modelId="{6159E473-005C-49E5-8B39-0C4E803ED402}" type="presOf" srcId="{7457FC33-32AC-43C2-A525-BD57751ABA71}" destId="{5BAE894E-55CD-483E-96EB-4E7FF4C7D3E5}" srcOrd="0" destOrd="0" presId="urn:microsoft.com/office/officeart/2005/8/layout/target2"/>
    <dgm:cxn modelId="{B6516C1F-4663-4220-9A84-6ED4177A7AB2}" srcId="{434B4868-72A0-453A-BDB4-B01EFE9AC62B}" destId="{66447622-ABD7-4AAD-9762-750D994C96D5}" srcOrd="2" destOrd="0" parTransId="{A9DA3F94-A781-4AC6-83FC-D2C57925400E}" sibTransId="{941F94AA-0A97-4FFF-8D07-0066A440007A}"/>
    <dgm:cxn modelId="{DD46A801-2AA4-4B32-8A81-B5A2921A8CAF}" srcId="{434B4868-72A0-453A-BDB4-B01EFE9AC62B}" destId="{44E01969-392A-4CD3-B91B-4527872FFF3E}" srcOrd="1" destOrd="0" parTransId="{4692E697-F3E0-465B-BE50-EA5F0968322E}" sibTransId="{709E9699-8405-4270-BC81-894D505C0AAC}"/>
    <dgm:cxn modelId="{DCDE61BE-1524-49FE-A5E5-91EC3B1C5318}" srcId="{434B4868-72A0-453A-BDB4-B01EFE9AC62B}" destId="{7457FC33-32AC-43C2-A525-BD57751ABA71}" srcOrd="3" destOrd="0" parTransId="{39303C43-1546-4291-9CFB-F213E174CF64}" sibTransId="{C88A6C44-1F5E-4371-ADFD-BD4D8734A088}"/>
    <dgm:cxn modelId="{1A6F9BE8-615E-4B7E-8BC7-7BC8C1472446}" type="presOf" srcId="{434B4868-72A0-453A-BDB4-B01EFE9AC62B}" destId="{1D05F6AB-497C-43AC-B0E0-922CDC60C890}" srcOrd="0" destOrd="0" presId="urn:microsoft.com/office/officeart/2005/8/layout/target2"/>
    <dgm:cxn modelId="{40D3F66B-EF91-47A7-98F5-78E5D35EE2E0}" srcId="{434B4868-72A0-453A-BDB4-B01EFE9AC62B}" destId="{13120284-4090-45A3-B0EF-AEF82110996B}" srcOrd="0" destOrd="0" parTransId="{6BADAF59-3D4B-4311-9387-8E37AB9C98C2}" sibTransId="{88DC7459-5610-4C6F-9751-87302066E4B6}"/>
    <dgm:cxn modelId="{C5382F14-C5B5-434A-81EE-2F0D5270B189}" type="presOf" srcId="{44E01969-392A-4CD3-B91B-4527872FFF3E}" destId="{9D601EEF-052D-4232-8066-A6DDEFDE4250}" srcOrd="0" destOrd="0" presId="urn:microsoft.com/office/officeart/2005/8/layout/target2"/>
    <dgm:cxn modelId="{2C2DA287-F0EB-4064-AF92-0A00965DF6EF}" type="presParOf" srcId="{6247C5EC-2BDC-4E0C-BE12-9A8C1F2576C4}" destId="{EBF3927A-BCD1-46F1-928D-20846FAD2978}" srcOrd="0" destOrd="0" presId="urn:microsoft.com/office/officeart/2005/8/layout/target2"/>
    <dgm:cxn modelId="{B1FBD897-3306-4257-8AE2-200C023A83DB}" type="presParOf" srcId="{EBF3927A-BCD1-46F1-928D-20846FAD2978}" destId="{1D05F6AB-497C-43AC-B0E0-922CDC60C890}" srcOrd="0" destOrd="0" presId="urn:microsoft.com/office/officeart/2005/8/layout/target2"/>
    <dgm:cxn modelId="{E6841E9F-DE9A-4FB1-8976-027F0C1E5DB0}" type="presParOf" srcId="{EBF3927A-BCD1-46F1-928D-20846FAD2978}" destId="{D4E3986C-5093-4124-8B2D-3766318392C4}" srcOrd="1" destOrd="0" presId="urn:microsoft.com/office/officeart/2005/8/layout/target2"/>
    <dgm:cxn modelId="{B55BA17F-5676-41AD-AE4B-2A1171F0D0FA}" type="presParOf" srcId="{D4E3986C-5093-4124-8B2D-3766318392C4}" destId="{E6AEE315-285F-4260-BECB-70FBE1A9FA96}" srcOrd="0" destOrd="0" presId="urn:microsoft.com/office/officeart/2005/8/layout/target2"/>
    <dgm:cxn modelId="{179DBA63-900A-4565-85FD-1F096759398E}" type="presParOf" srcId="{D4E3986C-5093-4124-8B2D-3766318392C4}" destId="{ED4C4678-9005-406B-87A5-E366A257D464}" srcOrd="1" destOrd="0" presId="urn:microsoft.com/office/officeart/2005/8/layout/target2"/>
    <dgm:cxn modelId="{14A423B9-A7A6-4061-AD7E-E82BCB92C0FD}" type="presParOf" srcId="{D4E3986C-5093-4124-8B2D-3766318392C4}" destId="{9D601EEF-052D-4232-8066-A6DDEFDE4250}" srcOrd="2" destOrd="0" presId="urn:microsoft.com/office/officeart/2005/8/layout/target2"/>
    <dgm:cxn modelId="{CC1B0224-F274-4FFF-9A17-E5FC998B6C4D}" type="presParOf" srcId="{D4E3986C-5093-4124-8B2D-3766318392C4}" destId="{A92577D5-BFBD-47DA-BB66-E19C2DCA1A26}" srcOrd="3" destOrd="0" presId="urn:microsoft.com/office/officeart/2005/8/layout/target2"/>
    <dgm:cxn modelId="{1A2BC998-03D8-42D4-8CF9-B03461F8677C}" type="presParOf" srcId="{D4E3986C-5093-4124-8B2D-3766318392C4}" destId="{EF9326FB-58D7-48FF-83DC-A483A5129C93}" srcOrd="4" destOrd="0" presId="urn:microsoft.com/office/officeart/2005/8/layout/target2"/>
    <dgm:cxn modelId="{ECE14B2E-209C-49AC-8985-19663382B849}" type="presParOf" srcId="{D4E3986C-5093-4124-8B2D-3766318392C4}" destId="{95202FE1-EB87-4B0F-A47E-BF302D88CBA2}" srcOrd="5" destOrd="0" presId="urn:microsoft.com/office/officeart/2005/8/layout/target2"/>
    <dgm:cxn modelId="{13BB7A01-C34B-4566-A8E6-C46441D0BAFC}" type="presParOf" srcId="{D4E3986C-5093-4124-8B2D-3766318392C4}" destId="{5BAE894E-55CD-483E-96EB-4E7FF4C7D3E5}" srcOrd="6"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05F6AB-497C-43AC-B0E0-922CDC60C890}">
      <dsp:nvSpPr>
        <dsp:cNvPr id="0" name=""/>
        <dsp:cNvSpPr/>
      </dsp:nvSpPr>
      <dsp:spPr>
        <a:xfrm>
          <a:off x="0" y="609596"/>
          <a:ext cx="7086600" cy="1600206"/>
        </a:xfrm>
        <a:prstGeom prst="roundRect">
          <a:avLst>
            <a:gd name="adj" fmla="val 8500"/>
          </a:avLst>
        </a:prstGeom>
        <a:solidFill>
          <a:schemeClr val="accent4">
            <a:shade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53340" tIns="53340" rIns="53340" bIns="1740588" numCol="1" spcCol="1270" anchor="ctr" anchorCtr="0">
          <a:noAutofit/>
        </a:bodyPr>
        <a:lstStyle/>
        <a:p>
          <a:pPr lvl="0" algn="ctr" defTabSz="622300">
            <a:lnSpc>
              <a:spcPct val="100000"/>
            </a:lnSpc>
            <a:spcBef>
              <a:spcPct val="0"/>
            </a:spcBef>
            <a:spcAft>
              <a:spcPts val="0"/>
            </a:spcAft>
          </a:pPr>
          <a:endParaRPr lang="en-US" sz="1400" b="1" kern="1200" dirty="0">
            <a:solidFill>
              <a:srgbClr val="C00000"/>
            </a:solidFill>
            <a:latin typeface="Cambria" pitchFamily="18" charset="0"/>
            <a:ea typeface="Cambria" pitchFamily="18" charset="0"/>
          </a:endParaRPr>
        </a:p>
        <a:p>
          <a:pPr lvl="0" algn="ctr" defTabSz="622300">
            <a:lnSpc>
              <a:spcPct val="100000"/>
            </a:lnSpc>
            <a:spcBef>
              <a:spcPct val="0"/>
            </a:spcBef>
            <a:spcAft>
              <a:spcPts val="0"/>
            </a:spcAft>
          </a:pPr>
          <a:endParaRPr lang="en-US" sz="1400" b="1" kern="1200" dirty="0">
            <a:solidFill>
              <a:srgbClr val="C00000"/>
            </a:solidFill>
            <a:latin typeface="Cambria" pitchFamily="18" charset="0"/>
            <a:ea typeface="Cambria" pitchFamily="18" charset="0"/>
          </a:endParaRPr>
        </a:p>
        <a:p>
          <a:pPr lvl="0" algn="ctr" defTabSz="622300">
            <a:lnSpc>
              <a:spcPct val="100000"/>
            </a:lnSpc>
            <a:spcBef>
              <a:spcPct val="0"/>
            </a:spcBef>
            <a:spcAft>
              <a:spcPts val="0"/>
            </a:spcAft>
          </a:pPr>
          <a:endParaRPr lang="en-US" sz="1400" b="1" kern="1200" dirty="0">
            <a:solidFill>
              <a:srgbClr val="C00000"/>
            </a:solidFill>
            <a:latin typeface="Cambria" pitchFamily="18" charset="0"/>
            <a:ea typeface="Cambria" pitchFamily="18" charset="0"/>
          </a:endParaRPr>
        </a:p>
        <a:p>
          <a:pPr lvl="0" algn="ctr" defTabSz="622300">
            <a:lnSpc>
              <a:spcPct val="100000"/>
            </a:lnSpc>
            <a:spcBef>
              <a:spcPct val="0"/>
            </a:spcBef>
            <a:spcAft>
              <a:spcPts val="0"/>
            </a:spcAft>
          </a:pPr>
          <a:endParaRPr lang="en-US" sz="1400" b="1" kern="1200" dirty="0">
            <a:solidFill>
              <a:srgbClr val="C00000"/>
            </a:solidFill>
            <a:latin typeface="Cambria" pitchFamily="18" charset="0"/>
            <a:ea typeface="Cambria" pitchFamily="18" charset="0"/>
          </a:endParaRPr>
        </a:p>
        <a:p>
          <a:pPr lvl="0" algn="ctr" defTabSz="622300">
            <a:lnSpc>
              <a:spcPct val="100000"/>
            </a:lnSpc>
            <a:spcBef>
              <a:spcPct val="0"/>
            </a:spcBef>
            <a:spcAft>
              <a:spcPts val="0"/>
            </a:spcAft>
          </a:pPr>
          <a:endParaRPr lang="en-US" sz="1400" b="1" kern="1200" dirty="0">
            <a:solidFill>
              <a:srgbClr val="C00000"/>
            </a:solidFill>
            <a:latin typeface="Cambria" pitchFamily="18" charset="0"/>
            <a:ea typeface="Cambria" pitchFamily="18" charset="0"/>
          </a:endParaRPr>
        </a:p>
        <a:p>
          <a:pPr lvl="0" algn="ctr" defTabSz="622300">
            <a:lnSpc>
              <a:spcPct val="100000"/>
            </a:lnSpc>
            <a:spcBef>
              <a:spcPct val="0"/>
            </a:spcBef>
            <a:spcAft>
              <a:spcPts val="0"/>
            </a:spcAft>
          </a:pPr>
          <a:r>
            <a:rPr lang="en-US" sz="1400" b="1" kern="1200" dirty="0">
              <a:solidFill>
                <a:schemeClr val="tx1"/>
              </a:solidFill>
              <a:latin typeface="Cambria" pitchFamily="18" charset="0"/>
              <a:ea typeface="Cambria" pitchFamily="18" charset="0"/>
            </a:rPr>
            <a:t>NSL-KDD dataset</a:t>
          </a:r>
          <a:endParaRPr lang="en-US" sz="1400" b="1" kern="1200" dirty="0">
            <a:solidFill>
              <a:schemeClr val="tx1"/>
            </a:solidFill>
          </a:endParaRPr>
        </a:p>
      </dsp:txBody>
      <dsp:txXfrm>
        <a:off x="39838" y="649434"/>
        <a:ext cx="7006924" cy="1520530"/>
      </dsp:txXfrm>
    </dsp:sp>
    <dsp:sp modelId="{E6AEE315-285F-4260-BECB-70FBE1A9FA96}">
      <dsp:nvSpPr>
        <dsp:cNvPr id="0" name=""/>
        <dsp:cNvSpPr/>
      </dsp:nvSpPr>
      <dsp:spPr>
        <a:xfrm>
          <a:off x="177165" y="1645923"/>
          <a:ext cx="1663344" cy="1097273"/>
        </a:xfrm>
        <a:prstGeom prst="roundRect">
          <a:avLst>
            <a:gd name="adj" fmla="val 10500"/>
          </a:avLst>
        </a:prstGeom>
        <a:solidFill>
          <a:schemeClr val="lt1">
            <a:alpha val="90000"/>
            <a:hueOff val="0"/>
            <a:satOff val="0"/>
            <a:lumOff val="0"/>
            <a:alphaOff val="0"/>
          </a:schemeClr>
        </a:solidFill>
        <a:ln w="25400" cap="flat"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latin typeface="Cambria" pitchFamily="18" charset="0"/>
              <a:ea typeface="Cambria" pitchFamily="18" charset="0"/>
            </a:rPr>
            <a:t>Used in </a:t>
          </a:r>
          <a:r>
            <a:rPr lang="en-US" sz="1200" b="0" kern="1200" dirty="0">
              <a:solidFill>
                <a:srgbClr val="0070C0"/>
              </a:solidFill>
              <a:latin typeface="Cambria" pitchFamily="18" charset="0"/>
              <a:ea typeface="Cambria" pitchFamily="18" charset="0"/>
            </a:rPr>
            <a:t>intrusion detection </a:t>
          </a:r>
          <a:r>
            <a:rPr lang="en-US" sz="1200" kern="1200" dirty="0">
              <a:solidFill>
                <a:srgbClr val="0070C0"/>
              </a:solidFill>
              <a:latin typeface="Cambria" pitchFamily="18" charset="0"/>
              <a:ea typeface="Cambria" pitchFamily="18" charset="0"/>
            </a:rPr>
            <a:t>research</a:t>
          </a:r>
        </a:p>
      </dsp:txBody>
      <dsp:txXfrm>
        <a:off x="210910" y="1679668"/>
        <a:ext cx="1595854" cy="1029783"/>
      </dsp:txXfrm>
    </dsp:sp>
    <dsp:sp modelId="{9D601EEF-052D-4232-8066-A6DDEFDE4250}">
      <dsp:nvSpPr>
        <dsp:cNvPr id="0" name=""/>
        <dsp:cNvSpPr/>
      </dsp:nvSpPr>
      <dsp:spPr>
        <a:xfrm>
          <a:off x="1866772" y="1645923"/>
          <a:ext cx="1663344" cy="1097273"/>
        </a:xfrm>
        <a:prstGeom prst="roundRect">
          <a:avLst>
            <a:gd name="adj" fmla="val 10500"/>
          </a:avLst>
        </a:prstGeom>
        <a:solidFill>
          <a:schemeClr val="lt1">
            <a:alpha val="90000"/>
            <a:hueOff val="0"/>
            <a:satOff val="0"/>
            <a:lumOff val="0"/>
            <a:alphaOff val="0"/>
          </a:schemeClr>
        </a:solidFill>
        <a:ln w="25400" cap="flat" cmpd="sng" algn="ctr">
          <a:solidFill>
            <a:schemeClr val="accent4">
              <a:shade val="80000"/>
              <a:hueOff val="10567"/>
              <a:satOff val="4560"/>
              <a:lumOff val="43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latin typeface="Cambria" pitchFamily="18" charset="0"/>
              <a:ea typeface="Cambria" pitchFamily="18" charset="0"/>
            </a:rPr>
            <a:t>Consists of </a:t>
          </a:r>
          <a:r>
            <a:rPr lang="en-US" sz="1200" b="0" kern="1200" dirty="0">
              <a:solidFill>
                <a:srgbClr val="0070C0"/>
              </a:solidFill>
              <a:latin typeface="Cambria" pitchFamily="18" charset="0"/>
              <a:ea typeface="Cambria" pitchFamily="18" charset="0"/>
            </a:rPr>
            <a:t>binary</a:t>
          </a:r>
          <a:r>
            <a:rPr lang="en-US" sz="1200" b="0" kern="1200" dirty="0">
              <a:latin typeface="Cambria" pitchFamily="18" charset="0"/>
              <a:ea typeface="Cambria" pitchFamily="18" charset="0"/>
            </a:rPr>
            <a:t>, </a:t>
          </a:r>
          <a:r>
            <a:rPr lang="en-US" sz="1200" b="0" kern="1200" dirty="0">
              <a:solidFill>
                <a:srgbClr val="0070C0"/>
              </a:solidFill>
              <a:latin typeface="Cambria" pitchFamily="18" charset="0"/>
              <a:ea typeface="Cambria" pitchFamily="18" charset="0"/>
            </a:rPr>
            <a:t>numerical</a:t>
          </a:r>
          <a:r>
            <a:rPr lang="en-US" sz="1200" b="0" kern="1200" dirty="0">
              <a:latin typeface="Cambria" pitchFamily="18" charset="0"/>
              <a:ea typeface="Cambria" pitchFamily="18" charset="0"/>
            </a:rPr>
            <a:t> &amp; </a:t>
          </a:r>
          <a:r>
            <a:rPr lang="en-US" sz="1200" b="0" kern="1200" dirty="0">
              <a:solidFill>
                <a:srgbClr val="0070C0"/>
              </a:solidFill>
              <a:latin typeface="Cambria" pitchFamily="18" charset="0"/>
              <a:ea typeface="Cambria" pitchFamily="18" charset="0"/>
            </a:rPr>
            <a:t>categorical data</a:t>
          </a:r>
        </a:p>
      </dsp:txBody>
      <dsp:txXfrm>
        <a:off x="1900517" y="1679668"/>
        <a:ext cx="1595854" cy="1029783"/>
      </dsp:txXfrm>
    </dsp:sp>
    <dsp:sp modelId="{EF9326FB-58D7-48FF-83DC-A483A5129C93}">
      <dsp:nvSpPr>
        <dsp:cNvPr id="0" name=""/>
        <dsp:cNvSpPr/>
      </dsp:nvSpPr>
      <dsp:spPr>
        <a:xfrm>
          <a:off x="3556379" y="1645923"/>
          <a:ext cx="1663344" cy="1097273"/>
        </a:xfrm>
        <a:prstGeom prst="roundRect">
          <a:avLst>
            <a:gd name="adj" fmla="val 10500"/>
          </a:avLst>
        </a:prstGeom>
        <a:solidFill>
          <a:schemeClr val="lt1">
            <a:alpha val="90000"/>
            <a:hueOff val="0"/>
            <a:satOff val="0"/>
            <a:lumOff val="0"/>
            <a:alphaOff val="0"/>
          </a:schemeClr>
        </a:solidFill>
        <a:ln w="25400" cap="flat" cmpd="sng" algn="ctr">
          <a:solidFill>
            <a:schemeClr val="accent4">
              <a:shade val="80000"/>
              <a:hueOff val="21134"/>
              <a:satOff val="9119"/>
              <a:lumOff val="87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b="0" kern="1200" dirty="0">
              <a:solidFill>
                <a:srgbClr val="0070C0"/>
              </a:solidFill>
              <a:latin typeface="Cambria" pitchFamily="18" charset="0"/>
              <a:ea typeface="Cambria" pitchFamily="18" charset="0"/>
            </a:rPr>
            <a:t>Dataset's</a:t>
          </a:r>
          <a:r>
            <a:rPr lang="en-US" sz="1200" b="0" kern="1200" dirty="0">
              <a:latin typeface="Cambria" pitchFamily="18" charset="0"/>
              <a:ea typeface="Cambria" pitchFamily="18" charset="0"/>
            </a:rPr>
            <a:t> </a:t>
          </a:r>
          <a:r>
            <a:rPr lang="en-US" sz="1200" b="0" kern="1200" dirty="0">
              <a:solidFill>
                <a:srgbClr val="0070C0"/>
              </a:solidFill>
              <a:latin typeface="Cambria" pitchFamily="18" charset="0"/>
              <a:ea typeface="Cambria" pitchFamily="18" charset="0"/>
            </a:rPr>
            <a:t>input</a:t>
          </a:r>
          <a:r>
            <a:rPr lang="en-US" sz="1200" b="0" kern="1200" dirty="0">
              <a:latin typeface="Cambria" pitchFamily="18" charset="0"/>
              <a:ea typeface="Cambria" pitchFamily="18" charset="0"/>
            </a:rPr>
            <a:t> </a:t>
          </a:r>
          <a:r>
            <a:rPr lang="en-US" sz="1200" kern="1200" dirty="0">
              <a:latin typeface="Cambria" pitchFamily="18" charset="0"/>
              <a:ea typeface="Cambria" pitchFamily="18" charset="0"/>
            </a:rPr>
            <a:t>provided </a:t>
          </a:r>
          <a:r>
            <a:rPr lang="en-US" sz="1200" kern="1200" dirty="0">
              <a:solidFill>
                <a:srgbClr val="0070C0"/>
              </a:solidFill>
              <a:latin typeface="Cambria" pitchFamily="18" charset="0"/>
              <a:ea typeface="Cambria" pitchFamily="18" charset="0"/>
            </a:rPr>
            <a:t>as</a:t>
          </a:r>
          <a:r>
            <a:rPr lang="en-US" sz="1200" kern="1200" dirty="0">
              <a:latin typeface="Cambria" pitchFamily="18" charset="0"/>
              <a:ea typeface="Cambria" pitchFamily="18" charset="0"/>
            </a:rPr>
            <a:t> a </a:t>
          </a:r>
          <a:r>
            <a:rPr lang="en-US" sz="1200" b="0" kern="1200" dirty="0">
              <a:solidFill>
                <a:srgbClr val="0070C0"/>
              </a:solidFill>
              <a:latin typeface="Cambria" pitchFamily="18" charset="0"/>
              <a:ea typeface="Cambria" pitchFamily="18" charset="0"/>
            </a:rPr>
            <a:t>vector</a:t>
          </a:r>
          <a:r>
            <a:rPr lang="en-US" sz="1200" b="0" kern="1200" dirty="0">
              <a:latin typeface="Cambria" pitchFamily="18" charset="0"/>
              <a:ea typeface="Cambria" pitchFamily="18" charset="0"/>
            </a:rPr>
            <a:t> of </a:t>
          </a:r>
          <a:r>
            <a:rPr lang="en-US" sz="1200" b="0" kern="1200" dirty="0">
              <a:solidFill>
                <a:srgbClr val="0070C0"/>
              </a:solidFill>
              <a:latin typeface="Cambria" pitchFamily="18" charset="0"/>
              <a:ea typeface="Cambria" pitchFamily="18" charset="0"/>
            </a:rPr>
            <a:t>41 features</a:t>
          </a:r>
        </a:p>
      </dsp:txBody>
      <dsp:txXfrm>
        <a:off x="3590124" y="1679668"/>
        <a:ext cx="1595854" cy="1029783"/>
      </dsp:txXfrm>
    </dsp:sp>
    <dsp:sp modelId="{5BAE894E-55CD-483E-96EB-4E7FF4C7D3E5}">
      <dsp:nvSpPr>
        <dsp:cNvPr id="0" name=""/>
        <dsp:cNvSpPr/>
      </dsp:nvSpPr>
      <dsp:spPr>
        <a:xfrm>
          <a:off x="5245987" y="1645923"/>
          <a:ext cx="1663344" cy="1097273"/>
        </a:xfrm>
        <a:prstGeom prst="roundRect">
          <a:avLst>
            <a:gd name="adj" fmla="val 10500"/>
          </a:avLst>
        </a:prstGeom>
        <a:solidFill>
          <a:schemeClr val="lt1">
            <a:alpha val="90000"/>
            <a:hueOff val="0"/>
            <a:satOff val="0"/>
            <a:lumOff val="0"/>
            <a:alphaOff val="0"/>
          </a:schemeClr>
        </a:solidFill>
        <a:ln w="25400" cap="flat" cmpd="sng" algn="ctr">
          <a:solidFill>
            <a:schemeClr val="accent4">
              <a:shade val="80000"/>
              <a:hueOff val="31701"/>
              <a:satOff val="13679"/>
              <a:lumOff val="1318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US" sz="1200" kern="1200" dirty="0">
              <a:solidFill>
                <a:srgbClr val="0070C0"/>
              </a:solidFill>
              <a:latin typeface="Cambria" pitchFamily="18" charset="0"/>
              <a:ea typeface="Cambria" pitchFamily="18" charset="0"/>
            </a:rPr>
            <a:t>Labels</a:t>
          </a:r>
          <a:r>
            <a:rPr lang="en-US" sz="1200" kern="1200" dirty="0">
              <a:latin typeface="Cambria" pitchFamily="18" charset="0"/>
              <a:ea typeface="Cambria" pitchFamily="18" charset="0"/>
            </a:rPr>
            <a:t> </a:t>
          </a:r>
          <a:r>
            <a:rPr lang="en-US" sz="1200" kern="1200" dirty="0">
              <a:solidFill>
                <a:srgbClr val="0070C0"/>
              </a:solidFill>
              <a:latin typeface="Cambria" pitchFamily="18" charset="0"/>
              <a:ea typeface="Cambria" pitchFamily="18" charset="0"/>
            </a:rPr>
            <a:t>distributed</a:t>
          </a:r>
          <a:r>
            <a:rPr lang="en-US" sz="1200" kern="1200" dirty="0">
              <a:latin typeface="Cambria" pitchFamily="18" charset="0"/>
              <a:ea typeface="Cambria" pitchFamily="18" charset="0"/>
            </a:rPr>
            <a:t> into </a:t>
          </a:r>
          <a:r>
            <a:rPr lang="en-US" sz="1200" kern="1200" dirty="0">
              <a:solidFill>
                <a:srgbClr val="0070C0"/>
              </a:solidFill>
              <a:latin typeface="Cambria" pitchFamily="18" charset="0"/>
              <a:ea typeface="Cambria" pitchFamily="18" charset="0"/>
            </a:rPr>
            <a:t>40 types </a:t>
          </a:r>
          <a:r>
            <a:rPr lang="en-US" sz="1200" kern="1200" dirty="0">
              <a:latin typeface="Cambria" pitchFamily="18" charset="0"/>
              <a:ea typeface="Cambria" pitchFamily="18" charset="0"/>
            </a:rPr>
            <a:t>of </a:t>
          </a:r>
          <a:r>
            <a:rPr lang="en-US" sz="1200" kern="1200" dirty="0">
              <a:solidFill>
                <a:srgbClr val="0070C0"/>
              </a:solidFill>
              <a:latin typeface="Cambria" pitchFamily="18" charset="0"/>
              <a:ea typeface="Cambria" pitchFamily="18" charset="0"/>
            </a:rPr>
            <a:t>attacks</a:t>
          </a:r>
        </a:p>
      </dsp:txBody>
      <dsp:txXfrm>
        <a:off x="5279732" y="1679668"/>
        <a:ext cx="1595854" cy="1029783"/>
      </dsp:txXfrm>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0627089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IDS: Monitoring system that detects suspicious activities and generates alerts when they are detected. Based upon these alerts, a security operations center (SOC) analyst or incident responder can investigate the issue and take the appropriate actions to remediate the threat.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solidFill>
                  <a:schemeClr val="tx1"/>
                </a:solidFill>
                <a:latin typeface="Cambria" pitchFamily="18" charset="0"/>
                <a:ea typeface="Cambria" pitchFamily="18" charset="0"/>
              </a:rPr>
              <a:t>false negative predictions:</a:t>
            </a:r>
            <a:r>
              <a:rPr lang="en-US" sz="1100" baseline="0" dirty="0">
                <a:solidFill>
                  <a:schemeClr val="tx1"/>
                </a:solidFill>
                <a:latin typeface="Cambria" pitchFamily="18" charset="0"/>
                <a:ea typeface="Cambria" pitchFamily="18" charset="0"/>
              </a:rPr>
              <a:t> </a:t>
            </a:r>
            <a:r>
              <a:rPr lang="en-US" sz="1100" dirty="0"/>
              <a:t>something is false when it is actually true</a:t>
            </a:r>
            <a:endParaRPr lang="en-US" sz="1100" dirty="0">
              <a:solidFill>
                <a:schemeClr val="tx1"/>
              </a:solidFill>
              <a:latin typeface="Cambria" pitchFamily="18" charset="0"/>
              <a:ea typeface="Cambria" pitchFamily="18" charset="0"/>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 replace</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Label encoding</a:t>
            </a:r>
            <a:r>
              <a:rPr lang="en-US" sz="1100" b="0" i="0" u="none" strike="noStrike" cap="none" baseline="0" dirty="0">
                <a:solidFill>
                  <a:srgbClr val="000000"/>
                </a:solidFill>
                <a:effectLst/>
                <a:latin typeface="Arial"/>
                <a:ea typeface="Arial"/>
                <a:cs typeface="Arial"/>
                <a:sym typeface="Arial"/>
              </a:rPr>
              <a:t> </a:t>
            </a:r>
            <a:r>
              <a:rPr lang="en-US" sz="1100" b="0" i="0" u="none" strike="noStrike" cap="none" dirty="0">
                <a:solidFill>
                  <a:srgbClr val="000000"/>
                </a:solidFill>
                <a:effectLst/>
                <a:latin typeface="Arial"/>
                <a:ea typeface="Arial"/>
                <a:cs typeface="Arial"/>
                <a:sym typeface="Arial"/>
              </a:rPr>
              <a:t>has the disadvantage that the numeric values can be misinterpreted by algorithms as having some sort of order in them. This ordering issue is addressed in another common alternative approach called ‘One-Hot Encoding’</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Aim:</a:t>
            </a:r>
            <a:r>
              <a:rPr lang="en-US" baseline="0" dirty="0"/>
              <a:t> categorize them into 4 attacks</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Label Encoding refers to </a:t>
            </a:r>
            <a:r>
              <a:rPr lang="en-US" sz="1100" b="1" i="0" u="none" strike="noStrike" cap="none" dirty="0">
                <a:solidFill>
                  <a:srgbClr val="000000"/>
                </a:solidFill>
                <a:effectLst/>
                <a:latin typeface="Arial"/>
                <a:ea typeface="Arial"/>
                <a:cs typeface="Arial"/>
                <a:sym typeface="Arial"/>
              </a:rPr>
              <a:t>converting the labels into a numeric form so as to convert them into the machine-readable form</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Feature Scaling is </a:t>
            </a:r>
            <a:r>
              <a:rPr lang="en-US" sz="1100" b="1" i="0" u="none" strike="noStrike" cap="none" dirty="0">
                <a:solidFill>
                  <a:srgbClr val="000000"/>
                </a:solidFill>
                <a:effectLst/>
                <a:latin typeface="Arial"/>
                <a:ea typeface="Arial"/>
                <a:cs typeface="Arial"/>
                <a:sym typeface="Arial"/>
              </a:rPr>
              <a:t>a technique to standardize the independent features present in the data in a fixed range</a:t>
            </a:r>
            <a:r>
              <a:rPr lang="en-US" sz="1100" b="0" i="0" u="none" strike="noStrike" cap="none" dirty="0">
                <a:solidFill>
                  <a:srgbClr val="000000"/>
                </a:solidFill>
                <a:effectLst/>
                <a:latin typeface="Arial"/>
                <a:ea typeface="Arial"/>
                <a:cs typeface="Arial"/>
                <a:sym typeface="Arial"/>
              </a:rPr>
              <a:t>. It is performed during the data pre-processing to handle highly varying magnitudes or values or units.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5ed75ccf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5ed75ccf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5ed75ccf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35ed75ccf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a:t>
            </a:r>
            <a:r>
              <a:rPr lang="en-US" baseline="0" dirty="0"/>
              <a:t> created 4 sub-datasets, we trained our model for each one of them</a:t>
            </a: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8002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5ed75ccf_0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5ed75ccf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23"/>
        <p:cNvGrpSpPr/>
        <p:nvPr/>
      </p:nvGrpSpPr>
      <p:grpSpPr>
        <a:xfrm>
          <a:off x="0" y="0"/>
          <a:ext cx="0" cy="0"/>
          <a:chOff x="0" y="0"/>
          <a:chExt cx="0" cy="0"/>
        </a:xfrm>
      </p:grpSpPr>
      <p:sp>
        <p:nvSpPr>
          <p:cNvPr id="24" name="Google Shape;24;p3"/>
          <p:cNvSpPr/>
          <p:nvPr/>
        </p:nvSpPr>
        <p:spPr>
          <a:xfrm>
            <a:off x="5697214" y="2635519"/>
            <a:ext cx="889200" cy="2964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25" name="Google Shape;25;p3"/>
          <p:cNvGrpSpPr/>
          <p:nvPr/>
        </p:nvGrpSpPr>
        <p:grpSpPr>
          <a:xfrm>
            <a:off x="0" y="-7088"/>
            <a:ext cx="8661398" cy="5150588"/>
            <a:chOff x="0" y="-7088"/>
            <a:chExt cx="8661398" cy="5150588"/>
          </a:xfrm>
        </p:grpSpPr>
        <p:sp>
          <p:nvSpPr>
            <p:cNvPr id="26" name="Google Shape;26;p3"/>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28" name="Google Shape;28;p3"/>
          <p:cNvGrpSpPr/>
          <p:nvPr/>
        </p:nvGrpSpPr>
        <p:grpSpPr>
          <a:xfrm rot="10800000" flipH="1">
            <a:off x="-2" y="2924826"/>
            <a:ext cx="6589087" cy="2027268"/>
            <a:chOff x="-9894852" y="-4493254"/>
            <a:chExt cx="21200407" cy="6522740"/>
          </a:xfrm>
        </p:grpSpPr>
        <p:sp>
          <p:nvSpPr>
            <p:cNvPr id="29" name="Google Shape;29;p3"/>
            <p:cNvSpPr/>
            <p:nvPr/>
          </p:nvSpPr>
          <p:spPr>
            <a:xfrm>
              <a:off x="-9894852" y="-4493114"/>
              <a:ext cx="146853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31" name="Google Shape;31;p3"/>
          <p:cNvGrpSpPr/>
          <p:nvPr/>
        </p:nvGrpSpPr>
        <p:grpSpPr>
          <a:xfrm>
            <a:off x="6946842" y="4472723"/>
            <a:ext cx="2202830" cy="670795"/>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9" name="Google Shape;39;p3"/>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40" name="Google Shape;40;p3"/>
          <p:cNvSpPr txBox="1">
            <a:spLocks noGrp="1"/>
          </p:cNvSpPr>
          <p:nvPr>
            <p:ph type="subTitle" idx="1"/>
          </p:nvPr>
        </p:nvSpPr>
        <p:spPr>
          <a:xfrm>
            <a:off x="463525" y="3975449"/>
            <a:ext cx="40944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2000"/>
              <a:buNone/>
              <a:defRPr sz="2000">
                <a:solidFill>
                  <a:schemeClr val="accent5"/>
                </a:solidFill>
              </a:defRPr>
            </a:lvl1pPr>
            <a:lvl2pPr lvl="1" rtl="0">
              <a:spcBef>
                <a:spcPts val="1000"/>
              </a:spcBef>
              <a:spcAft>
                <a:spcPts val="0"/>
              </a:spcAft>
              <a:buClr>
                <a:schemeClr val="accent5"/>
              </a:buClr>
              <a:buSzPts val="2000"/>
              <a:buNone/>
              <a:defRPr sz="2000">
                <a:solidFill>
                  <a:schemeClr val="accent5"/>
                </a:solidFill>
              </a:defRPr>
            </a:lvl2pPr>
            <a:lvl3pPr lvl="2" rtl="0">
              <a:spcBef>
                <a:spcPts val="1000"/>
              </a:spcBef>
              <a:spcAft>
                <a:spcPts val="0"/>
              </a:spcAft>
              <a:buClr>
                <a:schemeClr val="accent5"/>
              </a:buClr>
              <a:buSzPts val="2000"/>
              <a:buNone/>
              <a:defRPr sz="2000">
                <a:solidFill>
                  <a:schemeClr val="accent5"/>
                </a:solidFill>
              </a:defRPr>
            </a:lvl3pPr>
            <a:lvl4pPr lvl="3" rtl="0">
              <a:spcBef>
                <a:spcPts val="1000"/>
              </a:spcBef>
              <a:spcAft>
                <a:spcPts val="0"/>
              </a:spcAft>
              <a:buClr>
                <a:schemeClr val="accent5"/>
              </a:buClr>
              <a:buSzPts val="2000"/>
              <a:buNone/>
              <a:defRPr sz="2000">
                <a:solidFill>
                  <a:schemeClr val="accent5"/>
                </a:solidFill>
              </a:defRPr>
            </a:lvl4pPr>
            <a:lvl5pPr lvl="4" rtl="0">
              <a:spcBef>
                <a:spcPts val="1000"/>
              </a:spcBef>
              <a:spcAft>
                <a:spcPts val="0"/>
              </a:spcAft>
              <a:buClr>
                <a:schemeClr val="accent5"/>
              </a:buClr>
              <a:buSzPts val="2000"/>
              <a:buNone/>
              <a:defRPr sz="2000">
                <a:solidFill>
                  <a:schemeClr val="accent5"/>
                </a:solidFill>
              </a:defRPr>
            </a:lvl5pPr>
            <a:lvl6pPr lvl="5" rtl="0">
              <a:spcBef>
                <a:spcPts val="1000"/>
              </a:spcBef>
              <a:spcAft>
                <a:spcPts val="0"/>
              </a:spcAft>
              <a:buClr>
                <a:schemeClr val="accent5"/>
              </a:buClr>
              <a:buSzPts val="2000"/>
              <a:buNone/>
              <a:defRPr sz="2000">
                <a:solidFill>
                  <a:schemeClr val="accent5"/>
                </a:solidFill>
              </a:defRPr>
            </a:lvl6pPr>
            <a:lvl7pPr lvl="6" rtl="0">
              <a:spcBef>
                <a:spcPts val="1000"/>
              </a:spcBef>
              <a:spcAft>
                <a:spcPts val="0"/>
              </a:spcAft>
              <a:buClr>
                <a:schemeClr val="accent5"/>
              </a:buClr>
              <a:buSzPts val="2000"/>
              <a:buNone/>
              <a:defRPr sz="2000">
                <a:solidFill>
                  <a:schemeClr val="accent5"/>
                </a:solidFill>
              </a:defRPr>
            </a:lvl7pPr>
            <a:lvl8pPr lvl="7" rtl="0">
              <a:spcBef>
                <a:spcPts val="1000"/>
              </a:spcBef>
              <a:spcAft>
                <a:spcPts val="0"/>
              </a:spcAft>
              <a:buClr>
                <a:schemeClr val="accent5"/>
              </a:buClr>
              <a:buSzPts val="2000"/>
              <a:buNone/>
              <a:defRPr sz="2000">
                <a:solidFill>
                  <a:schemeClr val="accent5"/>
                </a:solidFill>
              </a:defRPr>
            </a:lvl8pPr>
            <a:lvl9pPr lvl="8" rtl="0">
              <a:spcBef>
                <a:spcPts val="1000"/>
              </a:spcBef>
              <a:spcAft>
                <a:spcPts val="1000"/>
              </a:spcAft>
              <a:buClr>
                <a:schemeClr val="accent5"/>
              </a:buClr>
              <a:buSzPts val="2000"/>
              <a:buNone/>
              <a:defRPr sz="2000">
                <a:solidFill>
                  <a:schemeClr val="accent5"/>
                </a:solidFill>
              </a:defRPr>
            </a:lvl9pPr>
          </a:lstStyle>
          <a:p>
            <a:endParaRPr/>
          </a:p>
        </p:txBody>
      </p:sp>
      <p:sp>
        <p:nvSpPr>
          <p:cNvPr id="41" name="Google Shape;41;p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61"/>
        <p:cNvGrpSpPr/>
        <p:nvPr/>
      </p:nvGrpSpPr>
      <p:grpSpPr>
        <a:xfrm>
          <a:off x="0" y="0"/>
          <a:ext cx="0" cy="0"/>
          <a:chOff x="0" y="0"/>
          <a:chExt cx="0" cy="0"/>
        </a:xfrm>
      </p:grpSpPr>
      <p:grpSp>
        <p:nvGrpSpPr>
          <p:cNvPr id="62" name="Google Shape;62;p5"/>
          <p:cNvGrpSpPr/>
          <p:nvPr/>
        </p:nvGrpSpPr>
        <p:grpSpPr>
          <a:xfrm>
            <a:off x="6946842" y="4472723"/>
            <a:ext cx="2202830" cy="670795"/>
            <a:chOff x="5575242" y="4472723"/>
            <a:chExt cx="2202830" cy="670795"/>
          </a:xfrm>
        </p:grpSpPr>
        <p:sp>
          <p:nvSpPr>
            <p:cNvPr id="63" name="Google Shape;63;p5"/>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5"/>
            <p:cNvGrpSpPr/>
            <p:nvPr/>
          </p:nvGrpSpPr>
          <p:grpSpPr>
            <a:xfrm flipH="1">
              <a:off x="5734850" y="4472723"/>
              <a:ext cx="2040837" cy="670795"/>
              <a:chOff x="1297954" y="330075"/>
              <a:chExt cx="5169293" cy="1699506"/>
            </a:xfrm>
          </p:grpSpPr>
          <p:sp>
            <p:nvSpPr>
              <p:cNvPr id="65" name="Google Shape;65;p5"/>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5"/>
            <p:cNvGrpSpPr/>
            <p:nvPr/>
          </p:nvGrpSpPr>
          <p:grpSpPr>
            <a:xfrm flipH="1">
              <a:off x="5578209" y="4646738"/>
              <a:ext cx="2199863" cy="304563"/>
              <a:chOff x="-5827153" y="330075"/>
              <a:chExt cx="12276019" cy="1699569"/>
            </a:xfrm>
          </p:grpSpPr>
          <p:sp>
            <p:nvSpPr>
              <p:cNvPr id="68" name="Google Shape;68;p5"/>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 name="Google Shape;70;p5"/>
          <p:cNvGrpSpPr/>
          <p:nvPr/>
        </p:nvGrpSpPr>
        <p:grpSpPr>
          <a:xfrm>
            <a:off x="-4" y="40"/>
            <a:ext cx="7072430" cy="1327315"/>
            <a:chOff x="-4" y="40"/>
            <a:chExt cx="7072430" cy="1327315"/>
          </a:xfrm>
        </p:grpSpPr>
        <p:sp>
          <p:nvSpPr>
            <p:cNvPr id="71" name="Google Shape;71;p5"/>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72" name="Google Shape;72;p5"/>
            <p:cNvGrpSpPr/>
            <p:nvPr/>
          </p:nvGrpSpPr>
          <p:grpSpPr>
            <a:xfrm rot="10800000" flipH="1">
              <a:off x="3" y="40"/>
              <a:ext cx="6756168" cy="1327315"/>
              <a:chOff x="-2168138" y="330075"/>
              <a:chExt cx="8650663" cy="1699506"/>
            </a:xfrm>
          </p:grpSpPr>
          <p:sp>
            <p:nvSpPr>
              <p:cNvPr id="73" name="Google Shape;73;p5"/>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4" name="Google Shape;74;p5"/>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75" name="Google Shape;75;p5"/>
            <p:cNvGrpSpPr/>
            <p:nvPr/>
          </p:nvGrpSpPr>
          <p:grpSpPr>
            <a:xfrm rot="10800000" flipH="1">
              <a:off x="-4" y="381007"/>
              <a:ext cx="7072430" cy="771744"/>
              <a:chOff x="-9092084" y="330075"/>
              <a:chExt cx="15574609" cy="1699501"/>
            </a:xfrm>
          </p:grpSpPr>
          <p:sp>
            <p:nvSpPr>
              <p:cNvPr id="76" name="Google Shape;76;p5"/>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77" name="Google Shape;77;p5"/>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sp>
        <p:nvSpPr>
          <p:cNvPr id="78" name="Google Shape;78;p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Google Shape;79;p5"/>
          <p:cNvSpPr txBox="1">
            <a:spLocks noGrp="1"/>
          </p:cNvSpPr>
          <p:nvPr>
            <p:ph type="body" idx="1"/>
          </p:nvPr>
        </p:nvSpPr>
        <p:spPr>
          <a:xfrm>
            <a:off x="814275" y="1327350"/>
            <a:ext cx="6132600" cy="3145500"/>
          </a:xfrm>
          <a:prstGeom prst="rect">
            <a:avLst/>
          </a:prstGeom>
        </p:spPr>
        <p:txBody>
          <a:bodyPr spcFirstLastPara="1" wrap="square" lIns="91425" tIns="91425" rIns="91425" bIns="91425" anchor="ctr" anchorCtr="0">
            <a:noAutofit/>
          </a:bodyPr>
          <a:lstStyle>
            <a:lvl1pPr marL="457200" lvl="0" indent="-381000">
              <a:spcBef>
                <a:spcPts val="600"/>
              </a:spcBef>
              <a:spcAft>
                <a:spcPts val="0"/>
              </a:spcAft>
              <a:buSzPts val="2400"/>
              <a:buChar char="▰"/>
              <a:defRPr/>
            </a:lvl1pPr>
            <a:lvl2pPr marL="914400" lvl="1" indent="-381000">
              <a:spcBef>
                <a:spcPts val="1000"/>
              </a:spcBef>
              <a:spcAft>
                <a:spcPts val="0"/>
              </a:spcAft>
              <a:buSzPts val="2400"/>
              <a:buChar char="▻"/>
              <a:defRPr/>
            </a:lvl2pPr>
            <a:lvl3pPr marL="1371600" lvl="2" indent="-381000">
              <a:spcBef>
                <a:spcPts val="1000"/>
              </a:spcBef>
              <a:spcAft>
                <a:spcPts val="0"/>
              </a:spcAft>
              <a:buSzPts val="2400"/>
              <a:buChar char="▻"/>
              <a:defRPr/>
            </a:lvl3pPr>
            <a:lvl4pPr marL="1828800" lvl="3" indent="-381000">
              <a:spcBef>
                <a:spcPts val="1000"/>
              </a:spcBef>
              <a:spcAft>
                <a:spcPts val="0"/>
              </a:spcAft>
              <a:buSzPts val="2400"/>
              <a:buChar char="▻"/>
              <a:defRPr/>
            </a:lvl4pPr>
            <a:lvl5pPr marL="2286000" lvl="4" indent="-381000">
              <a:spcBef>
                <a:spcPts val="1000"/>
              </a:spcBef>
              <a:spcAft>
                <a:spcPts val="0"/>
              </a:spcAft>
              <a:buSzPts val="2400"/>
              <a:buChar char="▻"/>
              <a:defRPr/>
            </a:lvl5pPr>
            <a:lvl6pPr marL="2743200" lvl="5" indent="-381000">
              <a:spcBef>
                <a:spcPts val="1000"/>
              </a:spcBef>
              <a:spcAft>
                <a:spcPts val="0"/>
              </a:spcAft>
              <a:buSzPts val="2400"/>
              <a:buChar char="▻"/>
              <a:defRPr/>
            </a:lvl6pPr>
            <a:lvl7pPr marL="3200400" lvl="6" indent="-381000">
              <a:spcBef>
                <a:spcPts val="1000"/>
              </a:spcBef>
              <a:spcAft>
                <a:spcPts val="0"/>
              </a:spcAft>
              <a:buSzPts val="2400"/>
              <a:buChar char="▻"/>
              <a:defRPr/>
            </a:lvl7pPr>
            <a:lvl8pPr marL="3657600" lvl="7" indent="-381000">
              <a:spcBef>
                <a:spcPts val="1000"/>
              </a:spcBef>
              <a:spcAft>
                <a:spcPts val="0"/>
              </a:spcAft>
              <a:buSzPts val="2400"/>
              <a:buChar char="▻"/>
              <a:defRPr/>
            </a:lvl8pPr>
            <a:lvl9pPr marL="4114800" lvl="8" indent="-381000">
              <a:spcBef>
                <a:spcPts val="1000"/>
              </a:spcBef>
              <a:spcAft>
                <a:spcPts val="1000"/>
              </a:spcAft>
              <a:buSzPts val="2400"/>
              <a:buChar char="▻"/>
              <a:defRPr/>
            </a:lvl9pPr>
          </a:lstStyle>
          <a:p>
            <a:endParaRPr/>
          </a:p>
        </p:txBody>
      </p:sp>
      <p:sp>
        <p:nvSpPr>
          <p:cNvPr id="80" name="Google Shape;80;p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02"/>
        <p:cNvGrpSpPr/>
        <p:nvPr/>
      </p:nvGrpSpPr>
      <p:grpSpPr>
        <a:xfrm>
          <a:off x="0" y="0"/>
          <a:ext cx="0" cy="0"/>
          <a:chOff x="0" y="0"/>
          <a:chExt cx="0" cy="0"/>
        </a:xfrm>
      </p:grpSpPr>
      <p:grpSp>
        <p:nvGrpSpPr>
          <p:cNvPr id="103" name="Google Shape;103;p7"/>
          <p:cNvGrpSpPr/>
          <p:nvPr/>
        </p:nvGrpSpPr>
        <p:grpSpPr>
          <a:xfrm>
            <a:off x="-4" y="40"/>
            <a:ext cx="7072430" cy="1327315"/>
            <a:chOff x="-4" y="40"/>
            <a:chExt cx="7072430" cy="1327315"/>
          </a:xfrm>
        </p:grpSpPr>
        <p:sp>
          <p:nvSpPr>
            <p:cNvPr id="104" name="Google Shape;104;p7"/>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05" name="Google Shape;105;p7"/>
            <p:cNvGrpSpPr/>
            <p:nvPr/>
          </p:nvGrpSpPr>
          <p:grpSpPr>
            <a:xfrm rot="10800000" flipH="1">
              <a:off x="3" y="40"/>
              <a:ext cx="6756168" cy="1327315"/>
              <a:chOff x="-2168138" y="330075"/>
              <a:chExt cx="8650663" cy="1699506"/>
            </a:xfrm>
          </p:grpSpPr>
          <p:sp>
            <p:nvSpPr>
              <p:cNvPr id="106" name="Google Shape;106;p7"/>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07" name="Google Shape;107;p7"/>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08" name="Google Shape;108;p7"/>
            <p:cNvGrpSpPr/>
            <p:nvPr/>
          </p:nvGrpSpPr>
          <p:grpSpPr>
            <a:xfrm rot="10800000" flipH="1">
              <a:off x="-4" y="381007"/>
              <a:ext cx="7072430" cy="771744"/>
              <a:chOff x="-9092084" y="330075"/>
              <a:chExt cx="15574609" cy="1699501"/>
            </a:xfrm>
          </p:grpSpPr>
          <p:sp>
            <p:nvSpPr>
              <p:cNvPr id="109" name="Google Shape;109;p7"/>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10" name="Google Shape;110;p7"/>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111" name="Google Shape;111;p7"/>
          <p:cNvGrpSpPr/>
          <p:nvPr/>
        </p:nvGrpSpPr>
        <p:grpSpPr>
          <a:xfrm>
            <a:off x="6946842" y="4472723"/>
            <a:ext cx="2202830" cy="670795"/>
            <a:chOff x="5575242" y="4472723"/>
            <a:chExt cx="2202830" cy="670795"/>
          </a:xfrm>
        </p:grpSpPr>
        <p:sp>
          <p:nvSpPr>
            <p:cNvPr id="112" name="Google Shape;112;p7"/>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7"/>
            <p:cNvGrpSpPr/>
            <p:nvPr/>
          </p:nvGrpSpPr>
          <p:grpSpPr>
            <a:xfrm flipH="1">
              <a:off x="5734850" y="4472723"/>
              <a:ext cx="2040837" cy="670795"/>
              <a:chOff x="1297954" y="330075"/>
              <a:chExt cx="5169293" cy="1699506"/>
            </a:xfrm>
          </p:grpSpPr>
          <p:sp>
            <p:nvSpPr>
              <p:cNvPr id="114" name="Google Shape;114;p7"/>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7"/>
            <p:cNvGrpSpPr/>
            <p:nvPr/>
          </p:nvGrpSpPr>
          <p:grpSpPr>
            <a:xfrm flipH="1">
              <a:off x="5578209" y="4646738"/>
              <a:ext cx="2199863" cy="304563"/>
              <a:chOff x="-5827153" y="330075"/>
              <a:chExt cx="12276019" cy="1699569"/>
            </a:xfrm>
          </p:grpSpPr>
          <p:sp>
            <p:nvSpPr>
              <p:cNvPr id="117" name="Google Shape;117;p7"/>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9" name="Google Shape;119;p7"/>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120" name="Google Shape;120;p7"/>
          <p:cNvSpPr txBox="1">
            <a:spLocks noGrp="1"/>
          </p:cNvSpPr>
          <p:nvPr>
            <p:ph type="body" idx="1"/>
          </p:nvPr>
        </p:nvSpPr>
        <p:spPr>
          <a:xfrm>
            <a:off x="870450" y="1545076"/>
            <a:ext cx="2247900" cy="27099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121" name="Google Shape;121;p7"/>
          <p:cNvSpPr txBox="1">
            <a:spLocks noGrp="1"/>
          </p:cNvSpPr>
          <p:nvPr>
            <p:ph type="body" idx="2"/>
          </p:nvPr>
        </p:nvSpPr>
        <p:spPr>
          <a:xfrm>
            <a:off x="3233637" y="1545076"/>
            <a:ext cx="2247900" cy="27099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122" name="Google Shape;122;p7"/>
          <p:cNvSpPr txBox="1">
            <a:spLocks noGrp="1"/>
          </p:cNvSpPr>
          <p:nvPr>
            <p:ph type="body" idx="3"/>
          </p:nvPr>
        </p:nvSpPr>
        <p:spPr>
          <a:xfrm>
            <a:off x="5540650" y="1545076"/>
            <a:ext cx="2247900" cy="27099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123" name="Google Shape;123;p7"/>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grpSp>
        <p:nvGrpSpPr>
          <p:cNvPr id="125" name="Google Shape;125;p8"/>
          <p:cNvGrpSpPr/>
          <p:nvPr/>
        </p:nvGrpSpPr>
        <p:grpSpPr>
          <a:xfrm>
            <a:off x="-4" y="40"/>
            <a:ext cx="7072430" cy="1327315"/>
            <a:chOff x="-4" y="40"/>
            <a:chExt cx="7072430" cy="1327315"/>
          </a:xfrm>
        </p:grpSpPr>
        <p:sp>
          <p:nvSpPr>
            <p:cNvPr id="126" name="Google Shape;126;p8"/>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27" name="Google Shape;127;p8"/>
            <p:cNvGrpSpPr/>
            <p:nvPr/>
          </p:nvGrpSpPr>
          <p:grpSpPr>
            <a:xfrm rot="10800000" flipH="1">
              <a:off x="3" y="40"/>
              <a:ext cx="6756168" cy="1327315"/>
              <a:chOff x="-2168138" y="330075"/>
              <a:chExt cx="8650663" cy="1699506"/>
            </a:xfrm>
          </p:grpSpPr>
          <p:sp>
            <p:nvSpPr>
              <p:cNvPr id="128" name="Google Shape;128;p8"/>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29" name="Google Shape;129;p8"/>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30" name="Google Shape;130;p8"/>
            <p:cNvGrpSpPr/>
            <p:nvPr/>
          </p:nvGrpSpPr>
          <p:grpSpPr>
            <a:xfrm rot="10800000" flipH="1">
              <a:off x="-4" y="381007"/>
              <a:ext cx="7072430" cy="771744"/>
              <a:chOff x="-9092084" y="330075"/>
              <a:chExt cx="15574609" cy="1699501"/>
            </a:xfrm>
          </p:grpSpPr>
          <p:sp>
            <p:nvSpPr>
              <p:cNvPr id="131" name="Google Shape;131;p8"/>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32" name="Google Shape;132;p8"/>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133" name="Google Shape;133;p8"/>
          <p:cNvGrpSpPr/>
          <p:nvPr/>
        </p:nvGrpSpPr>
        <p:grpSpPr>
          <a:xfrm>
            <a:off x="6946842" y="4472723"/>
            <a:ext cx="2202830" cy="670795"/>
            <a:chOff x="5575242" y="4472723"/>
            <a:chExt cx="2202830" cy="670795"/>
          </a:xfrm>
        </p:grpSpPr>
        <p:sp>
          <p:nvSpPr>
            <p:cNvPr id="134" name="Google Shape;134;p8"/>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 name="Google Shape;135;p8"/>
            <p:cNvGrpSpPr/>
            <p:nvPr/>
          </p:nvGrpSpPr>
          <p:grpSpPr>
            <a:xfrm flipH="1">
              <a:off x="5734850" y="4472723"/>
              <a:ext cx="2040837" cy="670795"/>
              <a:chOff x="1297954" y="330075"/>
              <a:chExt cx="5169293" cy="1699506"/>
            </a:xfrm>
          </p:grpSpPr>
          <p:sp>
            <p:nvSpPr>
              <p:cNvPr id="136" name="Google Shape;136;p8"/>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138;p8"/>
            <p:cNvGrpSpPr/>
            <p:nvPr/>
          </p:nvGrpSpPr>
          <p:grpSpPr>
            <a:xfrm flipH="1">
              <a:off x="5578209" y="4646738"/>
              <a:ext cx="2199863" cy="304563"/>
              <a:chOff x="-5827153" y="330075"/>
              <a:chExt cx="12276019" cy="1699569"/>
            </a:xfrm>
          </p:grpSpPr>
          <p:sp>
            <p:nvSpPr>
              <p:cNvPr id="139" name="Google Shape;139;p8"/>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1" name="Google Shape;141;p8"/>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42" name="Google Shape;142;p8"/>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43"/>
        <p:cNvGrpSpPr/>
        <p:nvPr/>
      </p:nvGrpSpPr>
      <p:grpSpPr>
        <a:xfrm>
          <a:off x="0" y="0"/>
          <a:ext cx="0" cy="0"/>
          <a:chOff x="0" y="0"/>
          <a:chExt cx="0" cy="0"/>
        </a:xfrm>
      </p:grpSpPr>
      <p:grpSp>
        <p:nvGrpSpPr>
          <p:cNvPr id="144" name="Google Shape;144;p9"/>
          <p:cNvGrpSpPr/>
          <p:nvPr/>
        </p:nvGrpSpPr>
        <p:grpSpPr>
          <a:xfrm>
            <a:off x="2466138" y="4472723"/>
            <a:ext cx="6686825" cy="670795"/>
            <a:chOff x="5589288" y="4472723"/>
            <a:chExt cx="6686825" cy="670795"/>
          </a:xfrm>
        </p:grpSpPr>
        <p:sp>
          <p:nvSpPr>
            <p:cNvPr id="145" name="Google Shape;145;p9"/>
            <p:cNvSpPr/>
            <p:nvPr/>
          </p:nvSpPr>
          <p:spPr>
            <a:xfrm rot="10800000">
              <a:off x="5589288"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 name="Google Shape;146;p9"/>
            <p:cNvGrpSpPr/>
            <p:nvPr/>
          </p:nvGrpSpPr>
          <p:grpSpPr>
            <a:xfrm flipH="1">
              <a:off x="5748896" y="4472723"/>
              <a:ext cx="6527217" cy="670795"/>
              <a:chOff x="-10101302" y="330075"/>
              <a:chExt cx="16532971" cy="1699506"/>
            </a:xfrm>
          </p:grpSpPr>
          <p:sp>
            <p:nvSpPr>
              <p:cNvPr id="147" name="Google Shape;147;p9"/>
              <p:cNvSpPr/>
              <p:nvPr/>
            </p:nvSpPr>
            <p:spPr>
              <a:xfrm>
                <a:off x="-10101302" y="330081"/>
                <a:ext cx="148464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a:off x="4732169"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9"/>
            <p:cNvGrpSpPr/>
            <p:nvPr/>
          </p:nvGrpSpPr>
          <p:grpSpPr>
            <a:xfrm flipH="1">
              <a:off x="5592255" y="4646738"/>
              <a:ext cx="6682918" cy="304563"/>
              <a:chOff x="-30922586" y="330075"/>
              <a:chExt cx="37293070" cy="1699569"/>
            </a:xfrm>
          </p:grpSpPr>
          <p:sp>
            <p:nvSpPr>
              <p:cNvPr id="150" name="Google Shape;150;p9"/>
              <p:cNvSpPr/>
              <p:nvPr/>
            </p:nvSpPr>
            <p:spPr>
              <a:xfrm>
                <a:off x="-30922586" y="330144"/>
                <a:ext cx="355881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a:off x="4670984"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2" name="Google Shape;152;p9"/>
          <p:cNvSpPr txBox="1">
            <a:spLocks noGrp="1"/>
          </p:cNvSpPr>
          <p:nvPr>
            <p:ph type="body" idx="1"/>
          </p:nvPr>
        </p:nvSpPr>
        <p:spPr>
          <a:xfrm>
            <a:off x="2682800" y="4636500"/>
            <a:ext cx="6004200" cy="3156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300"/>
              <a:buNone/>
              <a:defRPr sz="1300"/>
            </a:lvl1pPr>
          </a:lstStyle>
          <a:p>
            <a:endParaRPr/>
          </a:p>
        </p:txBody>
      </p:sp>
      <p:sp>
        <p:nvSpPr>
          <p:cNvPr id="153" name="Google Shape;153;p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54" name="Google Shape;154;p9"/>
          <p:cNvGrpSpPr/>
          <p:nvPr/>
        </p:nvGrpSpPr>
        <p:grpSpPr>
          <a:xfrm rot="10800000">
            <a:off x="-8" y="-2"/>
            <a:ext cx="2202830" cy="670795"/>
            <a:chOff x="5575242" y="4472723"/>
            <a:chExt cx="2202830" cy="670795"/>
          </a:xfrm>
        </p:grpSpPr>
        <p:sp>
          <p:nvSpPr>
            <p:cNvPr id="155" name="Google Shape;155;p9"/>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9"/>
            <p:cNvGrpSpPr/>
            <p:nvPr/>
          </p:nvGrpSpPr>
          <p:grpSpPr>
            <a:xfrm flipH="1">
              <a:off x="5734850" y="4472723"/>
              <a:ext cx="2040837" cy="670795"/>
              <a:chOff x="1297954" y="330075"/>
              <a:chExt cx="5169293" cy="1699506"/>
            </a:xfrm>
          </p:grpSpPr>
          <p:sp>
            <p:nvSpPr>
              <p:cNvPr id="157" name="Google Shape;157;p9"/>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9"/>
            <p:cNvGrpSpPr/>
            <p:nvPr/>
          </p:nvGrpSpPr>
          <p:grpSpPr>
            <a:xfrm flipH="1">
              <a:off x="5578209" y="4646738"/>
              <a:ext cx="2199863" cy="304563"/>
              <a:chOff x="-5827153" y="330075"/>
              <a:chExt cx="12276019" cy="1699569"/>
            </a:xfrm>
          </p:grpSpPr>
          <p:sp>
            <p:nvSpPr>
              <p:cNvPr id="160" name="Google Shape;160;p9"/>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163" name="Google Shape;163;p10"/>
          <p:cNvGrpSpPr/>
          <p:nvPr/>
        </p:nvGrpSpPr>
        <p:grpSpPr>
          <a:xfrm rot="10800000">
            <a:off x="-8" y="-2"/>
            <a:ext cx="2202830" cy="670795"/>
            <a:chOff x="5575242" y="4472723"/>
            <a:chExt cx="2202830" cy="670795"/>
          </a:xfrm>
        </p:grpSpPr>
        <p:sp>
          <p:nvSpPr>
            <p:cNvPr id="164"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10"/>
            <p:cNvGrpSpPr/>
            <p:nvPr/>
          </p:nvGrpSpPr>
          <p:grpSpPr>
            <a:xfrm flipH="1">
              <a:off x="5734850" y="4472723"/>
              <a:ext cx="2040837" cy="670795"/>
              <a:chOff x="1297954" y="330075"/>
              <a:chExt cx="5169293" cy="1699506"/>
            </a:xfrm>
          </p:grpSpPr>
          <p:sp>
            <p:nvSpPr>
              <p:cNvPr id="166"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0"/>
            <p:cNvGrpSpPr/>
            <p:nvPr/>
          </p:nvGrpSpPr>
          <p:grpSpPr>
            <a:xfrm flipH="1">
              <a:off x="5578209" y="4646738"/>
              <a:ext cx="2199863" cy="304563"/>
              <a:chOff x="-5827153" y="330075"/>
              <a:chExt cx="12276019" cy="1699569"/>
            </a:xfrm>
          </p:grpSpPr>
          <p:sp>
            <p:nvSpPr>
              <p:cNvPr id="169"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 name="Google Shape;171;p10"/>
          <p:cNvGrpSpPr/>
          <p:nvPr/>
        </p:nvGrpSpPr>
        <p:grpSpPr>
          <a:xfrm>
            <a:off x="6946842" y="4472723"/>
            <a:ext cx="2202830" cy="670795"/>
            <a:chOff x="5575242" y="4472723"/>
            <a:chExt cx="2202830" cy="670795"/>
          </a:xfrm>
        </p:grpSpPr>
        <p:sp>
          <p:nvSpPr>
            <p:cNvPr id="172"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 name="Google Shape;173;p10"/>
            <p:cNvGrpSpPr/>
            <p:nvPr/>
          </p:nvGrpSpPr>
          <p:grpSpPr>
            <a:xfrm flipH="1">
              <a:off x="5734850" y="4472723"/>
              <a:ext cx="2040837" cy="670795"/>
              <a:chOff x="1297954" y="330075"/>
              <a:chExt cx="5169293" cy="1699506"/>
            </a:xfrm>
          </p:grpSpPr>
          <p:sp>
            <p:nvSpPr>
              <p:cNvPr id="174"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10"/>
            <p:cNvGrpSpPr/>
            <p:nvPr/>
          </p:nvGrpSpPr>
          <p:grpSpPr>
            <a:xfrm flipH="1">
              <a:off x="5578209" y="4646738"/>
              <a:ext cx="2199863" cy="304563"/>
              <a:chOff x="-5827153" y="330075"/>
              <a:chExt cx="12276019" cy="1699569"/>
            </a:xfrm>
          </p:grpSpPr>
          <p:sp>
            <p:nvSpPr>
              <p:cNvPr id="177"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9"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hyperlink" Target="https://doi.org/10.1007/s11036-021-01843-0"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ML-based Intrusion Detection System </a:t>
            </a:r>
            <a:br>
              <a:rPr lang="en" dirty="0"/>
            </a:br>
            <a:r>
              <a:rPr lang="en" sz="3200" dirty="0"/>
              <a:t/>
            </a:r>
            <a:br>
              <a:rPr lang="en" sz="3200" dirty="0"/>
            </a:br>
            <a:r>
              <a:rPr lang="en" sz="1400" dirty="0"/>
              <a:t>Presented by</a:t>
            </a:r>
            <a:br>
              <a:rPr lang="en" sz="1400" dirty="0"/>
            </a:br>
            <a:r>
              <a:rPr lang="en" sz="1400" dirty="0"/>
              <a:t>Maryam Al Shami</a:t>
            </a:r>
            <a:br>
              <a:rPr lang="en" sz="1400" dirty="0"/>
            </a:br>
            <a:r>
              <a:rPr lang="en" sz="1400" dirty="0"/>
              <a:t>Mohamad Al Adraa</a:t>
            </a:r>
            <a:endParaRPr sz="1400" dirty="0"/>
          </a:p>
        </p:txBody>
      </p:sp>
      <p:sp>
        <p:nvSpPr>
          <p:cNvPr id="6" name="TextBox 5"/>
          <p:cNvSpPr txBox="1"/>
          <p:nvPr/>
        </p:nvSpPr>
        <p:spPr>
          <a:xfrm>
            <a:off x="3733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Outlines</a:t>
            </a:r>
            <a:endParaRPr dirty="0"/>
          </a:p>
        </p:txBody>
      </p:sp>
      <p:sp>
        <p:nvSpPr>
          <p:cNvPr id="190" name="Google Shape;190;p12"/>
          <p:cNvSpPr txBox="1">
            <a:spLocks noGrp="1"/>
          </p:cNvSpPr>
          <p:nvPr>
            <p:ph type="body" idx="2"/>
          </p:nvPr>
        </p:nvSpPr>
        <p:spPr>
          <a:xfrm>
            <a:off x="4119725" y="2035050"/>
            <a:ext cx="3654900" cy="1755900"/>
          </a:xfrm>
          <a:prstGeom prst="rect">
            <a:avLst/>
          </a:prstGeom>
        </p:spPr>
        <p:txBody>
          <a:bodyPr spcFirstLastPara="1" wrap="square" lIns="91425" tIns="91425" rIns="91425" bIns="91425" anchor="t" anchorCtr="0">
            <a:noAutofit/>
          </a:bodyPr>
          <a:lstStyle/>
          <a:p>
            <a:pPr indent="-381000">
              <a:spcBef>
                <a:spcPts val="0"/>
              </a:spcBef>
              <a:buSzPts val="2400"/>
            </a:pPr>
            <a:r>
              <a:rPr lang="en-US" sz="1400" dirty="0"/>
              <a:t>Methodology</a:t>
            </a:r>
          </a:p>
          <a:p>
            <a:pPr marL="76200" lvl="0" indent="0">
              <a:spcBef>
                <a:spcPts val="0"/>
              </a:spcBef>
              <a:buSzPts val="2400"/>
              <a:buNone/>
            </a:pPr>
            <a:endParaRPr lang="en-US" sz="1400" dirty="0"/>
          </a:p>
          <a:p>
            <a:pPr lvl="0" indent="-381000">
              <a:spcBef>
                <a:spcPts val="0"/>
              </a:spcBef>
              <a:buSzPts val="2400"/>
            </a:pPr>
            <a:r>
              <a:rPr lang="en-US" sz="1400" dirty="0"/>
              <a:t>Results</a:t>
            </a:r>
          </a:p>
          <a:p>
            <a:pPr marL="76200" lvl="0" indent="0">
              <a:spcBef>
                <a:spcPts val="0"/>
              </a:spcBef>
              <a:buSzPts val="2400"/>
              <a:buNone/>
            </a:pPr>
            <a:endParaRPr lang="en-US" sz="1400" dirty="0"/>
          </a:p>
          <a:p>
            <a:pPr lvl="0" indent="-381000">
              <a:spcBef>
                <a:spcPts val="0"/>
              </a:spcBef>
              <a:buSzPts val="2400"/>
            </a:pPr>
            <a:r>
              <a:rPr lang="en-US" sz="1400" dirty="0"/>
              <a:t>Conclusion</a:t>
            </a:r>
          </a:p>
          <a:p>
            <a:pPr lvl="0" indent="-381000">
              <a:spcBef>
                <a:spcPts val="0"/>
              </a:spcBef>
              <a:buSzPts val="2400"/>
            </a:pPr>
            <a:endParaRPr lang="en-US" sz="1400" dirty="0"/>
          </a:p>
          <a:p>
            <a:pPr lvl="0" indent="-381000">
              <a:spcBef>
                <a:spcPts val="0"/>
              </a:spcBef>
              <a:buSzPts val="2400"/>
            </a:pPr>
            <a:r>
              <a:rPr lang="en-US" sz="1400" dirty="0"/>
              <a:t>References</a:t>
            </a:r>
          </a:p>
          <a:p>
            <a:pPr marL="0" lvl="0" indent="0" algn="l" rtl="0">
              <a:spcBef>
                <a:spcPts val="600"/>
              </a:spcBef>
              <a:spcAft>
                <a:spcPts val="1000"/>
              </a:spcAft>
              <a:buNone/>
            </a:pPr>
            <a:endParaRPr sz="1400" b="1"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93" name="Google Shape;193;p12"/>
          <p:cNvSpPr txBox="1">
            <a:spLocks noGrp="1"/>
          </p:cNvSpPr>
          <p:nvPr>
            <p:ph type="body" idx="1"/>
          </p:nvPr>
        </p:nvSpPr>
        <p:spPr>
          <a:xfrm>
            <a:off x="814275" y="2035050"/>
            <a:ext cx="3084300" cy="1755900"/>
          </a:xfrm>
          <a:prstGeom prst="rect">
            <a:avLst/>
          </a:prstGeom>
        </p:spPr>
        <p:txBody>
          <a:bodyPr spcFirstLastPara="1" wrap="square" lIns="91425" tIns="91425" rIns="91425" bIns="91425" anchor="t" anchorCtr="0">
            <a:noAutofit/>
          </a:bodyPr>
          <a:lstStyle/>
          <a:p>
            <a:pPr lvl="0" indent="-381000">
              <a:spcBef>
                <a:spcPts val="0"/>
              </a:spcBef>
              <a:buSzPts val="2400"/>
            </a:pPr>
            <a:r>
              <a:rPr lang="en-US" sz="1400" dirty="0"/>
              <a:t>Motivation</a:t>
            </a:r>
          </a:p>
          <a:p>
            <a:pPr lvl="0" indent="-381000">
              <a:spcBef>
                <a:spcPts val="0"/>
              </a:spcBef>
              <a:buSzPts val="2400"/>
            </a:pPr>
            <a:endParaRPr lang="en-US" sz="1400" dirty="0"/>
          </a:p>
          <a:p>
            <a:pPr lvl="0" indent="-381000">
              <a:spcBef>
                <a:spcPts val="0"/>
              </a:spcBef>
              <a:buSzPts val="2400"/>
            </a:pPr>
            <a:r>
              <a:rPr lang="en-US" sz="1400" dirty="0"/>
              <a:t>Problem</a:t>
            </a:r>
          </a:p>
          <a:p>
            <a:pPr lvl="0" indent="-381000">
              <a:spcBef>
                <a:spcPts val="0"/>
              </a:spcBef>
              <a:buSzPts val="2400"/>
            </a:pPr>
            <a:endParaRPr lang="en-US" sz="1400" dirty="0"/>
          </a:p>
          <a:p>
            <a:pPr lvl="0" indent="-381000">
              <a:spcBef>
                <a:spcPts val="0"/>
              </a:spcBef>
              <a:buSzPts val="2400"/>
            </a:pPr>
            <a:r>
              <a:rPr lang="en-US" sz="1400" dirty="0"/>
              <a:t>Proposed Solution</a:t>
            </a:r>
          </a:p>
          <a:p>
            <a:pPr lvl="0" indent="-381000">
              <a:spcBef>
                <a:spcPts val="0"/>
              </a:spcBef>
              <a:buSzPts val="2400"/>
            </a:pPr>
            <a:endParaRPr lang="en-US" sz="1400" dirty="0"/>
          </a:p>
          <a:p>
            <a:pPr lvl="0" indent="-381000">
              <a:spcBef>
                <a:spcPts val="0"/>
              </a:spcBef>
              <a:buSzPts val="2400"/>
            </a:pPr>
            <a:r>
              <a:rPr lang="en-US" sz="1400" dirty="0"/>
              <a:t>Data set</a:t>
            </a:r>
          </a:p>
          <a:p>
            <a:pPr lvl="0" indent="-381000">
              <a:spcBef>
                <a:spcPts val="0"/>
              </a:spcBef>
              <a:buSzPts val="2400"/>
            </a:pPr>
            <a:endParaRPr lang="en-US" sz="1400" dirty="0"/>
          </a:p>
          <a:p>
            <a:pPr marL="76200" lvl="0" indent="0">
              <a:spcBef>
                <a:spcPts val="0"/>
              </a:spcBef>
              <a:buSzPts val="2400"/>
              <a:buNone/>
            </a:pPr>
            <a:endParaRPr lang="en-US" sz="1400" dirty="0"/>
          </a:p>
          <a:p>
            <a:pPr marL="0" lvl="0" indent="0" algn="l" rtl="0">
              <a:spcBef>
                <a:spcPts val="600"/>
              </a:spcBef>
              <a:spcAft>
                <a:spcPts val="1000"/>
              </a:spcAft>
              <a:buNone/>
            </a:pPr>
            <a:endParaRPr sz="2400" dirty="0"/>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Motivation</a:t>
            </a:r>
            <a:endParaRPr dirty="0"/>
          </a:p>
        </p:txBody>
      </p:sp>
      <p:sp>
        <p:nvSpPr>
          <p:cNvPr id="237" name="Google Shape;237;p16"/>
          <p:cNvSpPr txBox="1">
            <a:spLocks noGrp="1"/>
          </p:cNvSpPr>
          <p:nvPr>
            <p:ph type="body" idx="1"/>
          </p:nvPr>
        </p:nvSpPr>
        <p:spPr>
          <a:xfrm>
            <a:off x="814274" y="1327350"/>
            <a:ext cx="7491525" cy="3145500"/>
          </a:xfrm>
          <a:prstGeom prst="rect">
            <a:avLst/>
          </a:prstGeom>
        </p:spPr>
        <p:txBody>
          <a:bodyPr spcFirstLastPara="1" wrap="square" lIns="91425" tIns="91425" rIns="91425" bIns="91425" anchor="ctr" anchorCtr="0">
            <a:noAutofit/>
          </a:bodyPr>
          <a:lstStyle/>
          <a:p>
            <a:pPr lvl="0" algn="just"/>
            <a:r>
              <a:rPr lang="en-US" sz="1600" dirty="0"/>
              <a:t>In </a:t>
            </a:r>
            <a:r>
              <a:rPr lang="en-US" sz="1600" dirty="0">
                <a:solidFill>
                  <a:srgbClr val="0070C0"/>
                </a:solidFill>
              </a:rPr>
              <a:t>2023</a:t>
            </a:r>
            <a:r>
              <a:rPr lang="en-US" sz="1600" dirty="0"/>
              <a:t>: </a:t>
            </a:r>
            <a:r>
              <a:rPr lang="en-US" sz="1600" dirty="0">
                <a:solidFill>
                  <a:srgbClr val="0070C0"/>
                </a:solidFill>
              </a:rPr>
              <a:t>2.3 billion devices </a:t>
            </a:r>
            <a:r>
              <a:rPr lang="en-US" sz="1600" dirty="0"/>
              <a:t>would be </a:t>
            </a:r>
            <a:r>
              <a:rPr lang="en-US" sz="1600" dirty="0">
                <a:solidFill>
                  <a:srgbClr val="0070C0"/>
                </a:solidFill>
              </a:rPr>
              <a:t>connected to the internet</a:t>
            </a:r>
          </a:p>
          <a:p>
            <a:pPr lvl="0" algn="just"/>
            <a:r>
              <a:rPr lang="en-US" sz="1600" dirty="0">
                <a:solidFill>
                  <a:srgbClr val="0070C0"/>
                </a:solidFill>
              </a:rPr>
              <a:t>Amount</a:t>
            </a:r>
            <a:r>
              <a:rPr lang="en-US" sz="1600" dirty="0"/>
              <a:t> of </a:t>
            </a:r>
            <a:r>
              <a:rPr lang="en-US" sz="1600" dirty="0">
                <a:solidFill>
                  <a:srgbClr val="0070C0"/>
                </a:solidFill>
              </a:rPr>
              <a:t>traffic</a:t>
            </a:r>
            <a:r>
              <a:rPr lang="en-US" sz="1600" dirty="0"/>
              <a:t> generated could </a:t>
            </a:r>
            <a:r>
              <a:rPr lang="en-US" sz="1600" dirty="0">
                <a:solidFill>
                  <a:srgbClr val="0070C0"/>
                </a:solidFill>
              </a:rPr>
              <a:t>reach petabytes </a:t>
            </a:r>
          </a:p>
          <a:p>
            <a:pPr algn="just"/>
            <a:r>
              <a:rPr lang="en-US" sz="1600" dirty="0"/>
              <a:t>Cyber criminals will steal an estimated </a:t>
            </a:r>
            <a:r>
              <a:rPr lang="en-US" sz="1600" dirty="0">
                <a:solidFill>
                  <a:srgbClr val="0070C0"/>
                </a:solidFill>
              </a:rPr>
              <a:t>33 billion records in 2023</a:t>
            </a:r>
          </a:p>
          <a:p>
            <a:pPr lvl="0" algn="just"/>
            <a:r>
              <a:rPr lang="en-US" sz="1600" dirty="0"/>
              <a:t>Network Traffic </a:t>
            </a:r>
            <a:r>
              <a:rPr lang="en-US" sz="1600" dirty="0">
                <a:solidFill>
                  <a:srgbClr val="0070C0"/>
                </a:solidFill>
              </a:rPr>
              <a:t>prone</a:t>
            </a:r>
            <a:r>
              <a:rPr lang="en-US" sz="1600" dirty="0"/>
              <a:t> to </a:t>
            </a:r>
            <a:r>
              <a:rPr lang="en-US" sz="1600" dirty="0">
                <a:solidFill>
                  <a:srgbClr val="0070C0"/>
                </a:solidFill>
              </a:rPr>
              <a:t>cyber attacks</a:t>
            </a:r>
          </a:p>
          <a:p>
            <a:pPr lvl="1" algn="just"/>
            <a:r>
              <a:rPr lang="en-US" sz="1600" dirty="0">
                <a:solidFill>
                  <a:srgbClr val="0070C0"/>
                </a:solidFill>
              </a:rPr>
              <a:t>Security breach</a:t>
            </a:r>
            <a:r>
              <a:rPr lang="en-US" sz="1600" dirty="0"/>
              <a:t>, or </a:t>
            </a:r>
            <a:r>
              <a:rPr lang="en-US" sz="1600" dirty="0">
                <a:solidFill>
                  <a:srgbClr val="0070C0"/>
                </a:solidFill>
              </a:rPr>
              <a:t>shut down network  </a:t>
            </a:r>
            <a:r>
              <a:rPr lang="en-US" sz="1600" dirty="0"/>
              <a:t>(Intrusion)</a:t>
            </a:r>
          </a:p>
          <a:p>
            <a:pPr marL="76200" lvl="0" indent="0" algn="just">
              <a:spcBef>
                <a:spcPts val="0"/>
              </a:spcBef>
              <a:buNone/>
            </a:pPr>
            <a:endParaRPr lang="en-US" sz="1600" dirty="0"/>
          </a:p>
        </p:txBody>
      </p:sp>
      <p:sp>
        <p:nvSpPr>
          <p:cNvPr id="238" name="Google Shape;238;p1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grpSp>
        <p:nvGrpSpPr>
          <p:cNvPr id="239" name="Google Shape;239;p16"/>
          <p:cNvGrpSpPr/>
          <p:nvPr/>
        </p:nvGrpSpPr>
        <p:grpSpPr>
          <a:xfrm>
            <a:off x="282216" y="590918"/>
            <a:ext cx="369505" cy="369505"/>
            <a:chOff x="2594050" y="1631825"/>
            <a:chExt cx="439625" cy="439625"/>
          </a:xfrm>
        </p:grpSpPr>
        <p:sp>
          <p:nvSpPr>
            <p:cNvPr id="240" name="Google Shape;240;p16"/>
            <p:cNvSpPr/>
            <p:nvPr/>
          </p:nvSpPr>
          <p:spPr>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6"/>
            <p:cNvSpPr/>
            <p:nvPr/>
          </p:nvSpPr>
          <p:spPr>
            <a:xfrm>
              <a:off x="2801675" y="1740825"/>
              <a:ext cx="49950" cy="49950"/>
            </a:xfrm>
            <a:custGeom>
              <a:avLst/>
              <a:gdLst/>
              <a:ahLst/>
              <a:cxnLst/>
              <a:rect l="l" t="t" r="r" b="b"/>
              <a:pathLst>
                <a:path w="1998" h="1998" fill="none" extrusionOk="0">
                  <a:moveTo>
                    <a:pt x="1" y="1997"/>
                  </a:moveTo>
                  <a:lnTo>
                    <a:pt x="199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TextBox 9"/>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8"/>
          <p:cNvSpPr txBox="1">
            <a:spLocks noGrp="1"/>
          </p:cNvSpPr>
          <p:nvPr>
            <p:ph type="body" idx="1"/>
          </p:nvPr>
        </p:nvSpPr>
        <p:spPr>
          <a:xfrm>
            <a:off x="228600" y="1733550"/>
            <a:ext cx="4267200" cy="2724300"/>
          </a:xfrm>
          <a:prstGeom prst="rect">
            <a:avLst/>
          </a:prstGeom>
        </p:spPr>
        <p:txBody>
          <a:bodyPr spcFirstLastPara="1" wrap="square" lIns="91425" tIns="91425" rIns="91425" bIns="91425" anchor="t" anchorCtr="0">
            <a:noAutofit/>
          </a:bodyPr>
          <a:lstStyle/>
          <a:p>
            <a:pPr marL="76200" lvl="0" indent="0">
              <a:spcBef>
                <a:spcPts val="0"/>
              </a:spcBef>
              <a:buSzPts val="2400"/>
              <a:buNone/>
            </a:pPr>
            <a:endParaRPr lang="en-US" sz="1600" dirty="0"/>
          </a:p>
          <a:p>
            <a:pPr lvl="0"/>
            <a:r>
              <a:rPr lang="en-US" sz="1600" dirty="0">
                <a:solidFill>
                  <a:srgbClr val="0070C0"/>
                </a:solidFill>
                <a:latin typeface="Cambria" pitchFamily="18" charset="0"/>
                <a:ea typeface="Cambria" pitchFamily="18" charset="0"/>
              </a:rPr>
              <a:t>Traditional detection </a:t>
            </a:r>
            <a:r>
              <a:rPr lang="en-US" sz="1600" dirty="0">
                <a:solidFill>
                  <a:schemeClr val="tx1"/>
                </a:solidFill>
                <a:latin typeface="Cambria" pitchFamily="18" charset="0"/>
                <a:ea typeface="Cambria" pitchFamily="18" charset="0"/>
              </a:rPr>
              <a:t>mechanisms </a:t>
            </a:r>
          </a:p>
          <a:p>
            <a:pPr lvl="1"/>
            <a:r>
              <a:rPr lang="en-US" sz="1600" dirty="0">
                <a:solidFill>
                  <a:srgbClr val="0070C0"/>
                </a:solidFill>
                <a:latin typeface="Cambria" pitchFamily="18" charset="0"/>
                <a:ea typeface="Cambria" pitchFamily="18" charset="0"/>
              </a:rPr>
              <a:t>High false negative predictions rate</a:t>
            </a:r>
            <a:r>
              <a:rPr lang="en-US" sz="1600" dirty="0">
                <a:solidFill>
                  <a:schemeClr val="tx1"/>
                </a:solidFill>
                <a:latin typeface="Cambria" pitchFamily="18" charset="0"/>
                <a:ea typeface="Cambria" pitchFamily="18" charset="0"/>
              </a:rPr>
              <a:t> </a:t>
            </a:r>
          </a:p>
          <a:p>
            <a:pPr lvl="1"/>
            <a:r>
              <a:rPr lang="en-US" sz="1600" dirty="0">
                <a:solidFill>
                  <a:srgbClr val="0070C0"/>
                </a:solidFill>
                <a:latin typeface="Cambria" pitchFamily="18" charset="0"/>
                <a:ea typeface="Cambria" pitchFamily="18" charset="0"/>
              </a:rPr>
              <a:t>Slow detection </a:t>
            </a:r>
          </a:p>
        </p:txBody>
      </p:sp>
      <p:sp>
        <p:nvSpPr>
          <p:cNvPr id="268" name="Google Shape;268;p18"/>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a:t>
            </a:r>
            <a:endParaRPr dirty="0"/>
          </a:p>
        </p:txBody>
      </p:sp>
      <p:sp>
        <p:nvSpPr>
          <p:cNvPr id="270" name="Google Shape;270;p18"/>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grpSp>
        <p:nvGrpSpPr>
          <p:cNvPr id="271" name="Google Shape;271;p18"/>
          <p:cNvGrpSpPr/>
          <p:nvPr/>
        </p:nvGrpSpPr>
        <p:grpSpPr>
          <a:xfrm>
            <a:off x="312466" y="587260"/>
            <a:ext cx="309022" cy="376837"/>
            <a:chOff x="596350" y="929175"/>
            <a:chExt cx="407950" cy="497475"/>
          </a:xfrm>
        </p:grpSpPr>
        <p:sp>
          <p:nvSpPr>
            <p:cNvPr id="272" name="Google Shape;272;p18"/>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8"/>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8"/>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1026" name="Picture 2" descr="Intrusion Detection Systems (IDS) vs Intrusion Prevention Systems (IPS):  What's What? | N-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1966" y="2067000"/>
            <a:ext cx="4161034" cy="2057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8"/>
          <p:cNvSpPr txBox="1">
            <a:spLocks noGrp="1"/>
          </p:cNvSpPr>
          <p:nvPr>
            <p:ph type="body" idx="1"/>
          </p:nvPr>
        </p:nvSpPr>
        <p:spPr>
          <a:xfrm>
            <a:off x="2121637" y="1600050"/>
            <a:ext cx="4900726" cy="2724300"/>
          </a:xfrm>
          <a:prstGeom prst="rect">
            <a:avLst/>
          </a:prstGeom>
        </p:spPr>
        <p:txBody>
          <a:bodyPr spcFirstLastPara="1" wrap="square" lIns="91425" tIns="91425" rIns="91425" bIns="91425" anchor="t" anchorCtr="0">
            <a:noAutofit/>
          </a:bodyPr>
          <a:lstStyle/>
          <a:p>
            <a:pPr marL="0" lvl="0" indent="0">
              <a:buNone/>
            </a:pPr>
            <a:r>
              <a:rPr lang="en-US" sz="1800" b="1" dirty="0">
                <a:solidFill>
                  <a:srgbClr val="C00000"/>
                </a:solidFill>
              </a:rPr>
              <a:t>ML-based Intrusion Detection System </a:t>
            </a:r>
          </a:p>
          <a:p>
            <a:pPr lvl="0" indent="-381000">
              <a:spcBef>
                <a:spcPts val="0"/>
              </a:spcBef>
              <a:buSzPts val="2400"/>
            </a:pPr>
            <a:endParaRPr lang="en-US" sz="1600" dirty="0"/>
          </a:p>
          <a:p>
            <a:r>
              <a:rPr lang="en-US" sz="1600" dirty="0">
                <a:solidFill>
                  <a:srgbClr val="0070C0"/>
                </a:solidFill>
                <a:latin typeface="Cambria" pitchFamily="18" charset="0"/>
                <a:ea typeface="Cambria" pitchFamily="18" charset="0"/>
              </a:rPr>
              <a:t>Fast</a:t>
            </a:r>
          </a:p>
          <a:p>
            <a:pPr lvl="0"/>
            <a:r>
              <a:rPr lang="en-US" sz="1600" dirty="0">
                <a:solidFill>
                  <a:srgbClr val="0070C0"/>
                </a:solidFill>
                <a:latin typeface="Cambria" pitchFamily="18" charset="0"/>
                <a:ea typeface="Cambria" pitchFamily="18" charset="0"/>
              </a:rPr>
              <a:t>Detect malicious traffic </a:t>
            </a:r>
            <a:r>
              <a:rPr lang="en-US" sz="1600" dirty="0">
                <a:latin typeface="Cambria" pitchFamily="18" charset="0"/>
                <a:ea typeface="Cambria" pitchFamily="18" charset="0"/>
              </a:rPr>
              <a:t>by </a:t>
            </a:r>
            <a:r>
              <a:rPr lang="en-US" sz="1600" dirty="0">
                <a:solidFill>
                  <a:srgbClr val="0070C0"/>
                </a:solidFill>
                <a:latin typeface="Cambria" pitchFamily="18" charset="0"/>
                <a:ea typeface="Cambria" pitchFamily="18" charset="0"/>
              </a:rPr>
              <a:t>raising alarms</a:t>
            </a:r>
          </a:p>
          <a:p>
            <a:pPr lvl="0"/>
            <a:r>
              <a:rPr lang="en-US" sz="1600" dirty="0">
                <a:solidFill>
                  <a:srgbClr val="0070C0"/>
                </a:solidFill>
                <a:latin typeface="Cambria" pitchFamily="18" charset="0"/>
                <a:ea typeface="Cambria" pitchFamily="18" charset="0"/>
              </a:rPr>
              <a:t>Report</a:t>
            </a:r>
            <a:r>
              <a:rPr lang="en-US" sz="1600" dirty="0">
                <a:latin typeface="Cambria" pitchFamily="18" charset="0"/>
                <a:ea typeface="Cambria" pitchFamily="18" charset="0"/>
              </a:rPr>
              <a:t> them to administrators</a:t>
            </a:r>
          </a:p>
          <a:p>
            <a:pPr lvl="0"/>
            <a:r>
              <a:rPr lang="en-US" sz="1600" dirty="0">
                <a:solidFill>
                  <a:srgbClr val="0070C0"/>
                </a:solidFill>
                <a:latin typeface="Cambria" pitchFamily="18" charset="0"/>
                <a:ea typeface="Cambria" pitchFamily="18" charset="0"/>
              </a:rPr>
              <a:t>Take</a:t>
            </a:r>
            <a:r>
              <a:rPr lang="en-US" sz="1600" dirty="0">
                <a:latin typeface="Cambria" pitchFamily="18" charset="0"/>
                <a:ea typeface="Cambria" pitchFamily="18" charset="0"/>
              </a:rPr>
              <a:t> appropriate </a:t>
            </a:r>
            <a:r>
              <a:rPr lang="en-US" sz="1600" dirty="0">
                <a:solidFill>
                  <a:srgbClr val="0070C0"/>
                </a:solidFill>
                <a:latin typeface="Cambria" pitchFamily="18" charset="0"/>
                <a:ea typeface="Cambria" pitchFamily="18" charset="0"/>
              </a:rPr>
              <a:t>actions</a:t>
            </a:r>
          </a:p>
          <a:p>
            <a:pPr lvl="0"/>
            <a:r>
              <a:rPr lang="en-US" sz="1600" dirty="0">
                <a:solidFill>
                  <a:srgbClr val="0070C0"/>
                </a:solidFill>
                <a:latin typeface="Cambria" pitchFamily="18" charset="0"/>
                <a:ea typeface="Cambria" pitchFamily="18" charset="0"/>
              </a:rPr>
              <a:t>Decreasing</a:t>
            </a:r>
            <a:r>
              <a:rPr lang="en-US" sz="1600" dirty="0">
                <a:latin typeface="Cambria" pitchFamily="18" charset="0"/>
                <a:ea typeface="Cambria" pitchFamily="18" charset="0"/>
              </a:rPr>
              <a:t> number of </a:t>
            </a:r>
            <a:r>
              <a:rPr lang="en-US" sz="1600" dirty="0">
                <a:solidFill>
                  <a:srgbClr val="0070C0"/>
                </a:solidFill>
                <a:latin typeface="Cambria" pitchFamily="18" charset="0"/>
                <a:ea typeface="Cambria" pitchFamily="18" charset="0"/>
              </a:rPr>
              <a:t>false negative predictions </a:t>
            </a:r>
          </a:p>
        </p:txBody>
      </p:sp>
      <p:sp>
        <p:nvSpPr>
          <p:cNvPr id="268" name="Google Shape;268;p18"/>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Proposed Solution</a:t>
            </a:r>
            <a:endParaRPr dirty="0"/>
          </a:p>
        </p:txBody>
      </p:sp>
      <p:sp>
        <p:nvSpPr>
          <p:cNvPr id="270" name="Google Shape;270;p18"/>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grpSp>
        <p:nvGrpSpPr>
          <p:cNvPr id="271" name="Google Shape;271;p18"/>
          <p:cNvGrpSpPr/>
          <p:nvPr/>
        </p:nvGrpSpPr>
        <p:grpSpPr>
          <a:xfrm>
            <a:off x="312466" y="587260"/>
            <a:ext cx="309022" cy="376837"/>
            <a:chOff x="596350" y="929175"/>
            <a:chExt cx="407950" cy="497475"/>
          </a:xfrm>
        </p:grpSpPr>
        <p:sp>
          <p:nvSpPr>
            <p:cNvPr id="272" name="Google Shape;272;p18"/>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8"/>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8"/>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extLst>
      <p:ext uri="{BB962C8B-B14F-4D97-AF65-F5344CB8AC3E}">
        <p14:creationId xmlns:p14="http://schemas.microsoft.com/office/powerpoint/2010/main" val="170307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18"/>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Data</a:t>
            </a:r>
            <a:r>
              <a:rPr lang="en" dirty="0"/>
              <a:t> set</a:t>
            </a:r>
            <a:br>
              <a:rPr lang="en" dirty="0"/>
            </a:br>
            <a:r>
              <a:rPr lang="en" dirty="0"/>
              <a:t>- Overview -</a:t>
            </a:r>
            <a:endParaRPr dirty="0"/>
          </a:p>
        </p:txBody>
      </p:sp>
      <p:sp>
        <p:nvSpPr>
          <p:cNvPr id="270" name="Google Shape;270;p18"/>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grpSp>
        <p:nvGrpSpPr>
          <p:cNvPr id="271" name="Google Shape;271;p18"/>
          <p:cNvGrpSpPr/>
          <p:nvPr/>
        </p:nvGrpSpPr>
        <p:grpSpPr>
          <a:xfrm>
            <a:off x="312466" y="587260"/>
            <a:ext cx="309022" cy="376837"/>
            <a:chOff x="596350" y="929175"/>
            <a:chExt cx="407950" cy="497475"/>
          </a:xfrm>
        </p:grpSpPr>
        <p:sp>
          <p:nvSpPr>
            <p:cNvPr id="272" name="Google Shape;272;p18"/>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8"/>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8"/>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graphicFrame>
        <p:nvGraphicFramePr>
          <p:cNvPr id="15" name="Diagram 14"/>
          <p:cNvGraphicFramePr/>
          <p:nvPr>
            <p:extLst>
              <p:ext uri="{D42A27DB-BD31-4B8C-83A1-F6EECF244321}">
                <p14:modId xmlns:p14="http://schemas.microsoft.com/office/powerpoint/2010/main" val="1132291038"/>
              </p:ext>
            </p:extLst>
          </p:nvPr>
        </p:nvGraphicFramePr>
        <p:xfrm>
          <a:off x="1028700" y="1276350"/>
          <a:ext cx="7086600" cy="281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686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graphicEl>
                                              <a:dgm id="{1D05F6AB-497C-43AC-B0E0-922CDC60C890}"/>
                                            </p:graphicEl>
                                          </p:spTgt>
                                        </p:tgtEl>
                                        <p:attrNameLst>
                                          <p:attrName>style.visibility</p:attrName>
                                        </p:attrNameLst>
                                      </p:cBhvr>
                                      <p:to>
                                        <p:strVal val="visible"/>
                                      </p:to>
                                    </p:set>
                                    <p:animEffect transition="in" filter="fade">
                                      <p:cBhvr>
                                        <p:cTn id="7" dur="500"/>
                                        <p:tgtEl>
                                          <p:spTgt spid="15">
                                            <p:graphicEl>
                                              <a:dgm id="{1D05F6AB-497C-43AC-B0E0-922CDC60C890}"/>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graphicEl>
                                              <a:dgm id="{E6AEE315-285F-4260-BECB-70FBE1A9FA96}"/>
                                            </p:graphicEl>
                                          </p:spTgt>
                                        </p:tgtEl>
                                        <p:attrNameLst>
                                          <p:attrName>style.visibility</p:attrName>
                                        </p:attrNameLst>
                                      </p:cBhvr>
                                      <p:to>
                                        <p:strVal val="visible"/>
                                      </p:to>
                                    </p:set>
                                    <p:animEffect transition="in" filter="fade">
                                      <p:cBhvr>
                                        <p:cTn id="12" dur="500"/>
                                        <p:tgtEl>
                                          <p:spTgt spid="15">
                                            <p:graphicEl>
                                              <a:dgm id="{E6AEE315-285F-4260-BECB-70FBE1A9FA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graphicEl>
                                              <a:dgm id="{9D601EEF-052D-4232-8066-A6DDEFDE4250}"/>
                                            </p:graphicEl>
                                          </p:spTgt>
                                        </p:tgtEl>
                                        <p:attrNameLst>
                                          <p:attrName>style.visibility</p:attrName>
                                        </p:attrNameLst>
                                      </p:cBhvr>
                                      <p:to>
                                        <p:strVal val="visible"/>
                                      </p:to>
                                    </p:set>
                                    <p:animEffect transition="in" filter="fade">
                                      <p:cBhvr>
                                        <p:cTn id="17" dur="500"/>
                                        <p:tgtEl>
                                          <p:spTgt spid="15">
                                            <p:graphicEl>
                                              <a:dgm id="{9D601EEF-052D-4232-8066-A6DDEFDE4250}"/>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graphicEl>
                                              <a:dgm id="{EF9326FB-58D7-48FF-83DC-A483A5129C93}"/>
                                            </p:graphicEl>
                                          </p:spTgt>
                                        </p:tgtEl>
                                        <p:attrNameLst>
                                          <p:attrName>style.visibility</p:attrName>
                                        </p:attrNameLst>
                                      </p:cBhvr>
                                      <p:to>
                                        <p:strVal val="visible"/>
                                      </p:to>
                                    </p:set>
                                    <p:animEffect transition="in" filter="fade">
                                      <p:cBhvr>
                                        <p:cTn id="22" dur="500"/>
                                        <p:tgtEl>
                                          <p:spTgt spid="15">
                                            <p:graphicEl>
                                              <a:dgm id="{EF9326FB-58D7-48FF-83DC-A483A5129C93}"/>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graphicEl>
                                              <a:dgm id="{5BAE894E-55CD-483E-96EB-4E7FF4C7D3E5}"/>
                                            </p:graphicEl>
                                          </p:spTgt>
                                        </p:tgtEl>
                                        <p:attrNameLst>
                                          <p:attrName>style.visibility</p:attrName>
                                        </p:attrNameLst>
                                      </p:cBhvr>
                                      <p:to>
                                        <p:strVal val="visible"/>
                                      </p:to>
                                    </p:set>
                                    <p:animEffect transition="in" filter="fade">
                                      <p:cBhvr>
                                        <p:cTn id="27" dur="500"/>
                                        <p:tgtEl>
                                          <p:spTgt spid="15">
                                            <p:graphicEl>
                                              <a:dgm id="{5BAE894E-55CD-483E-96EB-4E7FF4C7D3E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7"/>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Methodology</a:t>
            </a:r>
            <a:endParaRPr dirty="0"/>
          </a:p>
        </p:txBody>
      </p:sp>
      <p:sp>
        <p:nvSpPr>
          <p:cNvPr id="419" name="Google Shape;419;p27"/>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grpSp>
        <p:nvGrpSpPr>
          <p:cNvPr id="420" name="Google Shape;420;p27"/>
          <p:cNvGrpSpPr/>
          <p:nvPr/>
        </p:nvGrpSpPr>
        <p:grpSpPr>
          <a:xfrm rot="10800000">
            <a:off x="-60959" y="2316469"/>
            <a:ext cx="2286000" cy="864880"/>
            <a:chOff x="185742" y="1697030"/>
            <a:chExt cx="5165698" cy="1658130"/>
          </a:xfrm>
        </p:grpSpPr>
        <p:sp>
          <p:nvSpPr>
            <p:cNvPr id="421" name="Google Shape;421;p27"/>
            <p:cNvSpPr/>
            <p:nvPr/>
          </p:nvSpPr>
          <p:spPr>
            <a:xfrm rot="10800000" flipH="1">
              <a:off x="1426312" y="1697030"/>
              <a:ext cx="2693400" cy="1243800"/>
            </a:xfrm>
            <a:prstGeom prst="rect">
              <a:avLst/>
            </a:prstGeom>
            <a:solidFill>
              <a:srgbClr val="C7D3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263248"/>
                  </a:solidFill>
                  <a:latin typeface="Roboto Condensed"/>
                  <a:ea typeface="Roboto Condensed"/>
                  <a:cs typeface="Roboto Condensed"/>
                  <a:sym typeface="Roboto Condensed"/>
                </a:rPr>
                <a:t>Data Preprocessing</a:t>
              </a:r>
              <a:endParaRPr dirty="0">
                <a:solidFill>
                  <a:srgbClr val="263248"/>
                </a:solidFill>
                <a:latin typeface="Roboto Condensed"/>
                <a:ea typeface="Roboto Condensed"/>
                <a:cs typeface="Roboto Condensed"/>
                <a:sym typeface="Roboto Condensed"/>
              </a:endParaRPr>
            </a:p>
          </p:txBody>
        </p:sp>
        <p:sp>
          <p:nvSpPr>
            <p:cNvPr id="422" name="Google Shape;422;p27"/>
            <p:cNvSpPr/>
            <p:nvPr/>
          </p:nvSpPr>
          <p:spPr>
            <a:xfrm rot="10800000" flipH="1">
              <a:off x="4107640" y="1697043"/>
              <a:ext cx="1243800" cy="12438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423" name="Google Shape;423;p27"/>
            <p:cNvSpPr/>
            <p:nvPr/>
          </p:nvSpPr>
          <p:spPr>
            <a:xfrm flipH="1">
              <a:off x="185742" y="1697043"/>
              <a:ext cx="1243800" cy="12438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424" name="Google Shape;424;p27"/>
            <p:cNvSpPr/>
            <p:nvPr/>
          </p:nvSpPr>
          <p:spPr>
            <a:xfrm rot="10800000">
              <a:off x="185748" y="2940860"/>
              <a:ext cx="1243800" cy="414300"/>
            </a:xfrm>
            <a:prstGeom prst="triangle">
              <a:avLst>
                <a:gd name="adj" fmla="val 0"/>
              </a:avLst>
            </a:prstGeom>
            <a:solidFill>
              <a:srgbClr val="92A8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grpSp>
      <p:grpSp>
        <p:nvGrpSpPr>
          <p:cNvPr id="425" name="Google Shape;425;p27"/>
          <p:cNvGrpSpPr/>
          <p:nvPr/>
        </p:nvGrpSpPr>
        <p:grpSpPr>
          <a:xfrm rot="10800000">
            <a:off x="5128261" y="2316470"/>
            <a:ext cx="2286000" cy="864880"/>
            <a:chOff x="185742" y="1697030"/>
            <a:chExt cx="5165698" cy="1658130"/>
          </a:xfrm>
        </p:grpSpPr>
        <p:sp>
          <p:nvSpPr>
            <p:cNvPr id="426" name="Google Shape;426;p27"/>
            <p:cNvSpPr/>
            <p:nvPr/>
          </p:nvSpPr>
          <p:spPr>
            <a:xfrm rot="10800000" flipH="1">
              <a:off x="1426312" y="1697030"/>
              <a:ext cx="2693400" cy="1243800"/>
            </a:xfrm>
            <a:prstGeom prst="rect">
              <a:avLst/>
            </a:prstGeom>
            <a:solidFill>
              <a:srgbClr val="92A8C8"/>
            </a:solidFill>
            <a:ln>
              <a:noFill/>
            </a:ln>
          </p:spPr>
          <p:txBody>
            <a:bodyPr spcFirstLastPara="1" wrap="square" lIns="91425" tIns="91425" rIns="91425" bIns="91425" anchor="ctr" anchorCtr="0">
              <a:noAutofit/>
            </a:bodyPr>
            <a:lstStyle/>
            <a:p>
              <a:pPr lvl="0" algn="ctr"/>
              <a:r>
                <a:rPr lang="en-US" dirty="0">
                  <a:solidFill>
                    <a:srgbClr val="FFFFFF"/>
                  </a:solidFill>
                  <a:latin typeface="Roboto Condensed"/>
                  <a:ea typeface="Roboto Condensed"/>
                  <a:cs typeface="Roboto Condensed"/>
                  <a:sym typeface="Roboto Condensed"/>
                </a:rPr>
                <a:t>Features Selection</a:t>
              </a:r>
            </a:p>
          </p:txBody>
        </p:sp>
        <p:sp>
          <p:nvSpPr>
            <p:cNvPr id="427" name="Google Shape;427;p27"/>
            <p:cNvSpPr/>
            <p:nvPr/>
          </p:nvSpPr>
          <p:spPr>
            <a:xfrm rot="10800000" flipH="1">
              <a:off x="4107640" y="1697043"/>
              <a:ext cx="1243800" cy="1243800"/>
            </a:xfrm>
            <a:prstGeom prst="rtTriangle">
              <a:avLst/>
            </a:prstGeom>
            <a:solidFill>
              <a:srgbClr val="92A8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428" name="Google Shape;428;p27"/>
            <p:cNvSpPr/>
            <p:nvPr/>
          </p:nvSpPr>
          <p:spPr>
            <a:xfrm flipH="1">
              <a:off x="185742" y="1697043"/>
              <a:ext cx="1243800" cy="1243800"/>
            </a:xfrm>
            <a:prstGeom prst="rtTriangle">
              <a:avLst/>
            </a:prstGeom>
            <a:solidFill>
              <a:srgbClr val="92A8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429" name="Google Shape;429;p27"/>
            <p:cNvSpPr/>
            <p:nvPr/>
          </p:nvSpPr>
          <p:spPr>
            <a:xfrm rot="10800000">
              <a:off x="185748" y="2940860"/>
              <a:ext cx="1243800" cy="414300"/>
            </a:xfrm>
            <a:prstGeom prst="triangle">
              <a:avLst>
                <a:gd name="adj" fmla="val 0"/>
              </a:avLst>
            </a:prstGeom>
            <a:solidFill>
              <a:srgbClr val="3F53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grpSp>
      <p:grpSp>
        <p:nvGrpSpPr>
          <p:cNvPr id="430" name="Google Shape;430;p27"/>
          <p:cNvGrpSpPr/>
          <p:nvPr/>
        </p:nvGrpSpPr>
        <p:grpSpPr>
          <a:xfrm rot="10800000">
            <a:off x="3398521" y="2316457"/>
            <a:ext cx="2286000" cy="864880"/>
            <a:chOff x="185742" y="1697030"/>
            <a:chExt cx="5165698" cy="1658130"/>
          </a:xfrm>
        </p:grpSpPr>
        <p:sp>
          <p:nvSpPr>
            <p:cNvPr id="431" name="Google Shape;431;p27"/>
            <p:cNvSpPr/>
            <p:nvPr/>
          </p:nvSpPr>
          <p:spPr>
            <a:xfrm rot="10800000" flipH="1">
              <a:off x="1426312" y="1697030"/>
              <a:ext cx="2693400" cy="1243800"/>
            </a:xfrm>
            <a:prstGeom prst="rect">
              <a:avLst/>
            </a:prstGeom>
            <a:solidFill>
              <a:srgbClr val="3F53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FFFF"/>
                  </a:solidFill>
                  <a:latin typeface="Roboto Condensed"/>
                  <a:ea typeface="Roboto Condensed"/>
                  <a:cs typeface="Roboto Condensed"/>
                  <a:sym typeface="Roboto Condensed"/>
                </a:rPr>
                <a:t>Data Augmentation</a:t>
              </a:r>
              <a:endParaRPr dirty="0">
                <a:solidFill>
                  <a:srgbClr val="FFFFFF"/>
                </a:solidFill>
                <a:latin typeface="Roboto Condensed"/>
                <a:ea typeface="Roboto Condensed"/>
                <a:cs typeface="Roboto Condensed"/>
                <a:sym typeface="Roboto Condensed"/>
              </a:endParaRPr>
            </a:p>
          </p:txBody>
        </p:sp>
        <p:sp>
          <p:nvSpPr>
            <p:cNvPr id="432" name="Google Shape;432;p27"/>
            <p:cNvSpPr/>
            <p:nvPr/>
          </p:nvSpPr>
          <p:spPr>
            <a:xfrm rot="10800000" flipH="1">
              <a:off x="4107640" y="1697043"/>
              <a:ext cx="1243800" cy="12438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latin typeface="Roboto Condensed"/>
                <a:ea typeface="Roboto Condensed"/>
                <a:cs typeface="Roboto Condensed"/>
                <a:sym typeface="Roboto Condensed"/>
              </a:endParaRPr>
            </a:p>
          </p:txBody>
        </p:sp>
        <p:sp>
          <p:nvSpPr>
            <p:cNvPr id="433" name="Google Shape;433;p27"/>
            <p:cNvSpPr/>
            <p:nvPr/>
          </p:nvSpPr>
          <p:spPr>
            <a:xfrm flipH="1">
              <a:off x="185742" y="1697043"/>
              <a:ext cx="1243800" cy="12438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latin typeface="Roboto Condensed"/>
                <a:ea typeface="Roboto Condensed"/>
                <a:cs typeface="Roboto Condensed"/>
                <a:sym typeface="Roboto Condensed"/>
              </a:endParaRPr>
            </a:p>
          </p:txBody>
        </p:sp>
        <p:sp>
          <p:nvSpPr>
            <p:cNvPr id="434" name="Google Shape;434;p27"/>
            <p:cNvSpPr/>
            <p:nvPr/>
          </p:nvSpPr>
          <p:spPr>
            <a:xfrm rot="10800000">
              <a:off x="185748" y="2940860"/>
              <a:ext cx="1243800" cy="414300"/>
            </a:xfrm>
            <a:prstGeom prst="triangle">
              <a:avLst>
                <a:gd name="adj" fmla="val 0"/>
              </a:avLst>
            </a:prstGeom>
            <a:solidFill>
              <a:srgbClr val="26324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latin typeface="Roboto Condensed"/>
                <a:ea typeface="Roboto Condensed"/>
                <a:cs typeface="Roboto Condensed"/>
                <a:sym typeface="Roboto Condensed"/>
              </a:endParaRPr>
            </a:p>
          </p:txBody>
        </p:sp>
      </p:grpSp>
      <p:grpSp>
        <p:nvGrpSpPr>
          <p:cNvPr id="435" name="Google Shape;435;p27"/>
          <p:cNvGrpSpPr/>
          <p:nvPr/>
        </p:nvGrpSpPr>
        <p:grpSpPr>
          <a:xfrm>
            <a:off x="270943" y="629920"/>
            <a:ext cx="392063" cy="291505"/>
            <a:chOff x="5247525" y="3007275"/>
            <a:chExt cx="517575" cy="384825"/>
          </a:xfrm>
        </p:grpSpPr>
        <p:sp>
          <p:nvSpPr>
            <p:cNvPr id="436" name="Google Shape;436;p27"/>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7"/>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420;p27"/>
          <p:cNvGrpSpPr/>
          <p:nvPr/>
        </p:nvGrpSpPr>
        <p:grpSpPr>
          <a:xfrm rot="10800000">
            <a:off x="6858000" y="2316470"/>
            <a:ext cx="2286000" cy="864880"/>
            <a:chOff x="185742" y="1697030"/>
            <a:chExt cx="5165698" cy="1658130"/>
          </a:xfrm>
        </p:grpSpPr>
        <p:sp>
          <p:nvSpPr>
            <p:cNvPr id="23" name="Google Shape;421;p27"/>
            <p:cNvSpPr/>
            <p:nvPr/>
          </p:nvSpPr>
          <p:spPr>
            <a:xfrm rot="10800000" flipH="1">
              <a:off x="1426312" y="1697030"/>
              <a:ext cx="2693400" cy="1243800"/>
            </a:xfrm>
            <a:prstGeom prst="rect">
              <a:avLst/>
            </a:prstGeom>
            <a:solidFill>
              <a:srgbClr val="C7D3E6"/>
            </a:solidFill>
            <a:ln>
              <a:noFill/>
            </a:ln>
          </p:spPr>
          <p:txBody>
            <a:bodyPr spcFirstLastPara="1" wrap="square" lIns="91425" tIns="91425" rIns="91425" bIns="91425" anchor="ctr" anchorCtr="0">
              <a:noAutofit/>
            </a:bodyPr>
            <a:lstStyle/>
            <a:p>
              <a:pPr marL="0" lvl="0" indent="0" algn="ctr">
                <a:spcBef>
                  <a:spcPts val="0"/>
                </a:spcBef>
                <a:spcAft>
                  <a:spcPts val="0"/>
                </a:spcAft>
                <a:buNone/>
              </a:pPr>
              <a:r>
                <a:rPr lang="en" dirty="0">
                  <a:solidFill>
                    <a:srgbClr val="263248"/>
                  </a:solidFill>
                  <a:latin typeface="Roboto Condensed"/>
                  <a:ea typeface="Roboto Condensed"/>
                  <a:cs typeface="Roboto Condensed"/>
                  <a:sym typeface="Roboto Condensed"/>
                </a:rPr>
                <a:t>Training &amp; Testing</a:t>
              </a:r>
              <a:endParaRPr dirty="0">
                <a:solidFill>
                  <a:srgbClr val="263248"/>
                </a:solidFill>
                <a:latin typeface="Roboto Condensed"/>
                <a:ea typeface="Roboto Condensed"/>
                <a:cs typeface="Roboto Condensed"/>
                <a:sym typeface="Roboto Condensed"/>
              </a:endParaRPr>
            </a:p>
          </p:txBody>
        </p:sp>
        <p:sp>
          <p:nvSpPr>
            <p:cNvPr id="24" name="Google Shape;422;p27"/>
            <p:cNvSpPr/>
            <p:nvPr/>
          </p:nvSpPr>
          <p:spPr>
            <a:xfrm rot="10800000" flipH="1">
              <a:off x="4107640" y="1697043"/>
              <a:ext cx="1243800" cy="12438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ctr">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25" name="Google Shape;423;p27"/>
            <p:cNvSpPr/>
            <p:nvPr/>
          </p:nvSpPr>
          <p:spPr>
            <a:xfrm flipH="1">
              <a:off x="185742" y="1697043"/>
              <a:ext cx="1243800" cy="12438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ctr">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26" name="Google Shape;424;p27"/>
            <p:cNvSpPr/>
            <p:nvPr/>
          </p:nvSpPr>
          <p:spPr>
            <a:xfrm rot="10800000">
              <a:off x="185748" y="2940860"/>
              <a:ext cx="1243800" cy="414300"/>
            </a:xfrm>
            <a:prstGeom prst="triangle">
              <a:avLst>
                <a:gd name="adj" fmla="val 0"/>
              </a:avLst>
            </a:prstGeom>
            <a:solidFill>
              <a:srgbClr val="92A8C8"/>
            </a:solidFill>
            <a:ln>
              <a:noFill/>
            </a:ln>
          </p:spPr>
          <p:txBody>
            <a:bodyPr spcFirstLastPara="1" wrap="square" lIns="91425" tIns="91425" rIns="91425" bIns="91425" anchor="ctr" anchorCtr="0">
              <a:noAutofit/>
            </a:bodyPr>
            <a:lstStyle/>
            <a:p>
              <a:pPr marL="0" lvl="0" indent="0" algn="ctr">
                <a:spcBef>
                  <a:spcPts val="0"/>
                </a:spcBef>
                <a:spcAft>
                  <a:spcPts val="0"/>
                </a:spcAft>
                <a:buNone/>
              </a:pPr>
              <a:endParaRPr>
                <a:solidFill>
                  <a:srgbClr val="263248"/>
                </a:solidFill>
                <a:latin typeface="Roboto Condensed"/>
                <a:ea typeface="Roboto Condensed"/>
                <a:cs typeface="Roboto Condensed"/>
                <a:sym typeface="Roboto Condensed"/>
              </a:endParaRPr>
            </a:p>
          </p:txBody>
        </p:sp>
      </p:grpSp>
      <p:sp>
        <p:nvSpPr>
          <p:cNvPr id="37" name="TextBox 36"/>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grpSp>
        <p:nvGrpSpPr>
          <p:cNvPr id="39" name="Google Shape;425;p27"/>
          <p:cNvGrpSpPr/>
          <p:nvPr/>
        </p:nvGrpSpPr>
        <p:grpSpPr>
          <a:xfrm rot="10800000">
            <a:off x="1676400" y="2316469"/>
            <a:ext cx="2286000" cy="864880"/>
            <a:chOff x="185742" y="1697030"/>
            <a:chExt cx="5165698" cy="1658130"/>
          </a:xfrm>
        </p:grpSpPr>
        <p:sp>
          <p:nvSpPr>
            <p:cNvPr id="40" name="Google Shape;426;p27"/>
            <p:cNvSpPr/>
            <p:nvPr/>
          </p:nvSpPr>
          <p:spPr>
            <a:xfrm rot="10800000" flipH="1">
              <a:off x="1426312" y="1697030"/>
              <a:ext cx="2693400" cy="1243800"/>
            </a:xfrm>
            <a:prstGeom prst="rect">
              <a:avLst/>
            </a:prstGeom>
            <a:solidFill>
              <a:srgbClr val="92A8C8"/>
            </a:solidFill>
            <a:ln>
              <a:noFill/>
            </a:ln>
          </p:spPr>
          <p:txBody>
            <a:bodyPr spcFirstLastPara="1" wrap="square" lIns="91425" tIns="91425" rIns="91425" bIns="91425" anchor="ctr" anchorCtr="0">
              <a:noAutofit/>
            </a:bodyPr>
            <a:lstStyle/>
            <a:p>
              <a:pPr lvl="0" algn="ctr"/>
              <a:r>
                <a:rPr lang="en-US" dirty="0">
                  <a:solidFill>
                    <a:srgbClr val="263248"/>
                  </a:solidFill>
                  <a:latin typeface="Roboto Condensed"/>
                  <a:ea typeface="Roboto Condensed"/>
                  <a:cs typeface="Roboto Condensed"/>
                  <a:sym typeface="Roboto Condensed"/>
                </a:rPr>
                <a:t>Binary &amp; Multi-class </a:t>
              </a:r>
            </a:p>
          </p:txBody>
        </p:sp>
        <p:sp>
          <p:nvSpPr>
            <p:cNvPr id="41" name="Google Shape;427;p27"/>
            <p:cNvSpPr/>
            <p:nvPr/>
          </p:nvSpPr>
          <p:spPr>
            <a:xfrm rot="10800000" flipH="1">
              <a:off x="4107640" y="1697043"/>
              <a:ext cx="1243800" cy="1243800"/>
            </a:xfrm>
            <a:prstGeom prst="rtTriangle">
              <a:avLst/>
            </a:prstGeom>
            <a:solidFill>
              <a:srgbClr val="92A8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42" name="Google Shape;428;p27"/>
            <p:cNvSpPr/>
            <p:nvPr/>
          </p:nvSpPr>
          <p:spPr>
            <a:xfrm flipH="1">
              <a:off x="185742" y="1697043"/>
              <a:ext cx="1243800" cy="1243800"/>
            </a:xfrm>
            <a:prstGeom prst="rtTriangle">
              <a:avLst/>
            </a:prstGeom>
            <a:solidFill>
              <a:srgbClr val="92A8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sp>
          <p:nvSpPr>
            <p:cNvPr id="43" name="Google Shape;429;p27"/>
            <p:cNvSpPr/>
            <p:nvPr/>
          </p:nvSpPr>
          <p:spPr>
            <a:xfrm rot="10800000">
              <a:off x="185748" y="2940860"/>
              <a:ext cx="1243800" cy="414300"/>
            </a:xfrm>
            <a:prstGeom prst="triangle">
              <a:avLst>
                <a:gd name="adj" fmla="val 0"/>
              </a:avLst>
            </a:prstGeom>
            <a:solidFill>
              <a:srgbClr val="3F53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63248"/>
                </a:solidFill>
                <a:latin typeface="Roboto Condensed"/>
                <a:ea typeface="Roboto Condensed"/>
                <a:cs typeface="Roboto Condensed"/>
                <a:sym typeface="Roboto Condense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Preprocessing</a:t>
            </a:r>
            <a:endParaRPr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a:solidFill>
                  <a:srgbClr val="3F5378"/>
                </a:solidFill>
                <a:latin typeface="Roboto Condensed"/>
                <a:ea typeface="Roboto Condensed"/>
                <a:cs typeface="Roboto Condensed"/>
                <a:sym typeface="Roboto Condensed"/>
              </a:rPr>
              <a:t>1</a:t>
            </a:r>
            <a:endParaRPr sz="3000" b="1">
              <a:solidFill>
                <a:srgbClr val="3F5378"/>
              </a:solidFill>
              <a:latin typeface="Roboto Condensed"/>
              <a:ea typeface="Roboto Condensed"/>
              <a:cs typeface="Roboto Condensed"/>
              <a:sym typeface="Roboto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Analysis</a:t>
            </a:r>
            <a:endParaRPr dirty="0"/>
          </a:p>
        </p:txBody>
      </p:sp>
      <p:sp>
        <p:nvSpPr>
          <p:cNvPr id="284" name="Google Shape;284;p19"/>
          <p:cNvSpPr txBox="1">
            <a:spLocks noGrp="1"/>
          </p:cNvSpPr>
          <p:nvPr>
            <p:ph type="body" idx="1"/>
          </p:nvPr>
        </p:nvSpPr>
        <p:spPr>
          <a:xfrm>
            <a:off x="892085" y="1200150"/>
            <a:ext cx="2247900" cy="27099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en-US" b="1" dirty="0"/>
              <a:t>Categorical</a:t>
            </a:r>
            <a:endParaRPr b="1" dirty="0"/>
          </a:p>
        </p:txBody>
      </p:sp>
      <p:sp>
        <p:nvSpPr>
          <p:cNvPr id="285" name="Google Shape;285;p19"/>
          <p:cNvSpPr txBox="1">
            <a:spLocks noGrp="1"/>
          </p:cNvSpPr>
          <p:nvPr>
            <p:ph type="body" idx="2"/>
          </p:nvPr>
        </p:nvSpPr>
        <p:spPr>
          <a:xfrm>
            <a:off x="892085" y="2419350"/>
            <a:ext cx="2247900" cy="2709900"/>
          </a:xfrm>
          <a:prstGeom prst="rect">
            <a:avLst/>
          </a:prstGeom>
        </p:spPr>
        <p:txBody>
          <a:bodyPr spcFirstLastPara="1" wrap="square" lIns="91425" tIns="91425" rIns="91425" bIns="91425" anchor="t" anchorCtr="0">
            <a:noAutofit/>
          </a:bodyPr>
          <a:lstStyle/>
          <a:p>
            <a:pPr marL="0" lvl="0" indent="0" algn="ctr">
              <a:buNone/>
            </a:pPr>
            <a:r>
              <a:rPr lang="en-US" b="1" dirty="0"/>
              <a:t>Binary</a:t>
            </a:r>
          </a:p>
        </p:txBody>
      </p:sp>
      <p:sp>
        <p:nvSpPr>
          <p:cNvPr id="286" name="Google Shape;286;p19"/>
          <p:cNvSpPr txBox="1">
            <a:spLocks noGrp="1"/>
          </p:cNvSpPr>
          <p:nvPr>
            <p:ph type="body" idx="3"/>
          </p:nvPr>
        </p:nvSpPr>
        <p:spPr>
          <a:xfrm>
            <a:off x="4530279" y="1200150"/>
            <a:ext cx="2247900" cy="2709900"/>
          </a:xfrm>
          <a:prstGeom prst="rect">
            <a:avLst/>
          </a:prstGeom>
        </p:spPr>
        <p:txBody>
          <a:bodyPr spcFirstLastPara="1" wrap="square" lIns="91425" tIns="91425" rIns="91425" bIns="91425" anchor="t" anchorCtr="0">
            <a:noAutofit/>
          </a:bodyPr>
          <a:lstStyle/>
          <a:p>
            <a:pPr marL="0" lvl="0" indent="0" algn="ctr">
              <a:buNone/>
            </a:pPr>
            <a:r>
              <a:rPr lang="en-US" b="1" dirty="0"/>
              <a:t>Numerical</a:t>
            </a:r>
          </a:p>
          <a:p>
            <a:pPr marL="0" lvl="0" indent="0" algn="ctr">
              <a:spcBef>
                <a:spcPts val="1000"/>
              </a:spcBef>
              <a:spcAft>
                <a:spcPts val="1000"/>
              </a:spcAft>
              <a:buNone/>
            </a:pPr>
            <a:endParaRPr lang="en-US"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98" y="1657350"/>
            <a:ext cx="3800274"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023" y="2889250"/>
            <a:ext cx="2486025" cy="143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1657350"/>
            <a:ext cx="2469258" cy="3377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85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Analysis: Binary</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69" y="1504950"/>
            <a:ext cx="7658614"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447800" y="3409950"/>
            <a:ext cx="647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H="1">
            <a:off x="7696200" y="3105150"/>
            <a:ext cx="457200" cy="4191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924800" y="2647950"/>
            <a:ext cx="1066800" cy="523220"/>
          </a:xfrm>
          <a:prstGeom prst="rect">
            <a:avLst/>
          </a:prstGeom>
          <a:noFill/>
        </p:spPr>
        <p:txBody>
          <a:bodyPr wrap="square" rtlCol="0">
            <a:spAutoFit/>
          </a:bodyPr>
          <a:lstStyle/>
          <a:p>
            <a:pPr algn="ctr"/>
            <a:r>
              <a:rPr lang="en-US" i="1" dirty="0">
                <a:solidFill>
                  <a:schemeClr val="bg2">
                    <a:lumMod val="60000"/>
                    <a:lumOff val="40000"/>
                  </a:schemeClr>
                </a:solidFill>
              </a:rPr>
              <a:t>Replace by 0.0</a:t>
            </a:r>
          </a:p>
        </p:txBody>
      </p:sp>
    </p:spTree>
    <p:extLst>
      <p:ext uri="{BB962C8B-B14F-4D97-AF65-F5344CB8AC3E}">
        <p14:creationId xmlns:p14="http://schemas.microsoft.com/office/powerpoint/2010/main" val="696333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 dirty="0"/>
              <a:t>Data Analysis: </a:t>
            </a:r>
            <a:r>
              <a:rPr lang="en-US" dirty="0"/>
              <a:t>Numerical</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
        <p:nvSpPr>
          <p:cNvPr id="8" name="TextBox 7"/>
          <p:cNvSpPr txBox="1"/>
          <p:nvPr/>
        </p:nvSpPr>
        <p:spPr>
          <a:xfrm>
            <a:off x="7772400" y="2949773"/>
            <a:ext cx="1066800" cy="307777"/>
          </a:xfrm>
          <a:prstGeom prst="rect">
            <a:avLst/>
          </a:prstGeom>
          <a:noFill/>
        </p:spPr>
        <p:txBody>
          <a:bodyPr wrap="square" rtlCol="0">
            <a:spAutoFit/>
          </a:bodyPr>
          <a:lstStyle/>
          <a:p>
            <a:pPr algn="ctr"/>
            <a:r>
              <a:rPr lang="en-US" i="1" dirty="0">
                <a:solidFill>
                  <a:schemeClr val="bg2">
                    <a:lumMod val="60000"/>
                    <a:lumOff val="40000"/>
                  </a:schemeClr>
                </a:solidFill>
              </a:rPr>
              <a:t>Drop</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372" y="1471541"/>
            <a:ext cx="7092628" cy="3157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524000" y="3562350"/>
            <a:ext cx="64008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flipH="1">
            <a:off x="7543800" y="3257550"/>
            <a:ext cx="457200" cy="4191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48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 dirty="0"/>
              <a:t>Data Analysis: </a:t>
            </a:r>
            <a:r>
              <a:rPr lang="en-US" dirty="0"/>
              <a:t>Categorical</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581150"/>
            <a:ext cx="7061200" cy="111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876551"/>
            <a:ext cx="6248400" cy="1167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88170" y="2360550"/>
            <a:ext cx="1905000" cy="1371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181100" y="3714750"/>
            <a:ext cx="1905000" cy="1371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62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dirty="0"/>
              <a:t>Encoding Categorical Features: </a:t>
            </a:r>
            <a:r>
              <a:rPr lang="en-US" dirty="0" err="1"/>
              <a:t>OneHotEncoder</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684" y="1352551"/>
            <a:ext cx="4005263" cy="1916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373188"/>
            <a:ext cx="3534176" cy="187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Rectangle 19"/>
          <p:cNvSpPr/>
          <p:nvPr/>
        </p:nvSpPr>
        <p:spPr>
          <a:xfrm>
            <a:off x="1143000" y="3131865"/>
            <a:ext cx="1905000" cy="1371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410200" y="3063285"/>
            <a:ext cx="1905000" cy="1371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8335" y="3333749"/>
            <a:ext cx="3332865" cy="1724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ectangle 21"/>
          <p:cNvSpPr/>
          <p:nvPr/>
        </p:nvSpPr>
        <p:spPr>
          <a:xfrm>
            <a:off x="2857500" y="4920049"/>
            <a:ext cx="1905000" cy="1371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p:cNvCxnSpPr/>
          <p:nvPr/>
        </p:nvCxnSpPr>
        <p:spPr>
          <a:xfrm>
            <a:off x="2181667" y="4615249"/>
            <a:ext cx="553335" cy="3048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219200" y="3982819"/>
            <a:ext cx="1256915" cy="646331"/>
          </a:xfrm>
          <a:prstGeom prst="rect">
            <a:avLst/>
          </a:prstGeom>
          <a:noFill/>
        </p:spPr>
        <p:txBody>
          <a:bodyPr wrap="square" rtlCol="0">
            <a:spAutoFit/>
          </a:bodyPr>
          <a:lstStyle/>
          <a:p>
            <a:pPr algn="ctr"/>
            <a:r>
              <a:rPr lang="en-US" sz="1200" i="1" dirty="0">
                <a:solidFill>
                  <a:schemeClr val="bg2">
                    <a:lumMod val="60000"/>
                    <a:lumOff val="40000"/>
                  </a:schemeClr>
                </a:solidFill>
              </a:rPr>
              <a:t>Adding the missing columns</a:t>
            </a:r>
          </a:p>
        </p:txBody>
      </p:sp>
    </p:spTree>
    <p:extLst>
      <p:ext uri="{BB962C8B-B14F-4D97-AF65-F5344CB8AC3E}">
        <p14:creationId xmlns:p14="http://schemas.microsoft.com/office/powerpoint/2010/main" val="122152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4" grpId="0" animBg="1"/>
      <p:bldP spid="22" grpId="0" animBg="1"/>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dirty="0"/>
              <a:t>Encoding Labels</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
        <p:nvSpPr>
          <p:cNvPr id="4" name="Rectangle 3"/>
          <p:cNvSpPr/>
          <p:nvPr/>
        </p:nvSpPr>
        <p:spPr>
          <a:xfrm>
            <a:off x="5029200" y="5391150"/>
            <a:ext cx="1905000" cy="1371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p:cNvCxnSpPr/>
          <p:nvPr/>
        </p:nvCxnSpPr>
        <p:spPr>
          <a:xfrm>
            <a:off x="2181667" y="5619750"/>
            <a:ext cx="553335" cy="3048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extLst>
              <p:ext uri="{D42A27DB-BD31-4B8C-83A1-F6EECF244321}">
                <p14:modId xmlns:p14="http://schemas.microsoft.com/office/powerpoint/2010/main" val="1219893969"/>
              </p:ext>
            </p:extLst>
          </p:nvPr>
        </p:nvGraphicFramePr>
        <p:xfrm>
          <a:off x="228600" y="1657350"/>
          <a:ext cx="8686800" cy="2667000"/>
        </p:xfrm>
        <a:graphic>
          <a:graphicData uri="http://schemas.openxmlformats.org/drawingml/2006/table">
            <a:tbl>
              <a:tblPr firstRow="1" bandRow="1">
                <a:tableStyleId>{5940675A-B579-460E-94D1-54222C63F5DA}</a:tableStyleId>
              </a:tblPr>
              <a:tblGrid>
                <a:gridCol w="2171700">
                  <a:extLst>
                    <a:ext uri="{9D8B030D-6E8A-4147-A177-3AD203B41FA5}">
                      <a16:colId xmlns:a16="http://schemas.microsoft.com/office/drawing/2014/main" xmlns="" val="20000"/>
                    </a:ext>
                  </a:extLst>
                </a:gridCol>
                <a:gridCol w="2171700">
                  <a:extLst>
                    <a:ext uri="{9D8B030D-6E8A-4147-A177-3AD203B41FA5}">
                      <a16:colId xmlns:a16="http://schemas.microsoft.com/office/drawing/2014/main" xmlns="" val="20001"/>
                    </a:ext>
                  </a:extLst>
                </a:gridCol>
                <a:gridCol w="2171700">
                  <a:extLst>
                    <a:ext uri="{9D8B030D-6E8A-4147-A177-3AD203B41FA5}">
                      <a16:colId xmlns:a16="http://schemas.microsoft.com/office/drawing/2014/main" xmlns="" val="20002"/>
                    </a:ext>
                  </a:extLst>
                </a:gridCol>
                <a:gridCol w="2171700">
                  <a:extLst>
                    <a:ext uri="{9D8B030D-6E8A-4147-A177-3AD203B41FA5}">
                      <a16:colId xmlns:a16="http://schemas.microsoft.com/office/drawing/2014/main" xmlns="" val="20003"/>
                    </a:ext>
                  </a:extLst>
                </a:gridCol>
              </a:tblGrid>
              <a:tr h="2667000">
                <a:tc>
                  <a:txBody>
                    <a:bodyPr/>
                    <a:lstStyle/>
                    <a:p>
                      <a:pPr algn="ctr"/>
                      <a:r>
                        <a:rPr lang="en-US" sz="1200" u="none" strike="noStrike" cap="none" baseline="0" dirty="0">
                          <a:sym typeface="Arial"/>
                        </a:rPr>
                        <a:t>back(359),</a:t>
                      </a:r>
                    </a:p>
                    <a:p>
                      <a:pPr algn="ctr"/>
                      <a:r>
                        <a:rPr lang="en-US" sz="1200" u="none" strike="noStrike" cap="none" baseline="0" dirty="0">
                          <a:sym typeface="Arial"/>
                        </a:rPr>
                        <a:t>land(7), </a:t>
                      </a:r>
                    </a:p>
                    <a:p>
                      <a:pPr algn="ctr"/>
                      <a:r>
                        <a:rPr lang="en-US" sz="1200" u="none" strike="noStrike" cap="none" baseline="0" dirty="0" err="1">
                          <a:sym typeface="Arial"/>
                        </a:rPr>
                        <a:t>neptune</a:t>
                      </a:r>
                      <a:r>
                        <a:rPr lang="en-US" sz="1200" u="none" strike="noStrike" cap="none" baseline="0" dirty="0">
                          <a:sym typeface="Arial"/>
                        </a:rPr>
                        <a:t>(4,657),</a:t>
                      </a:r>
                    </a:p>
                    <a:p>
                      <a:pPr algn="ctr"/>
                      <a:r>
                        <a:rPr lang="en-US" sz="1200" u="none" strike="noStrike" cap="none" baseline="0" dirty="0">
                          <a:sym typeface="Arial"/>
                        </a:rPr>
                        <a:t>apache2(737),</a:t>
                      </a:r>
                    </a:p>
                    <a:p>
                      <a:pPr algn="ctr"/>
                      <a:r>
                        <a:rPr lang="en-US" sz="1200" u="none" strike="noStrike" cap="none" baseline="0" dirty="0">
                          <a:sym typeface="Arial"/>
                        </a:rPr>
                        <a:t>pod(41),</a:t>
                      </a:r>
                    </a:p>
                    <a:p>
                      <a:pPr algn="ctr"/>
                      <a:r>
                        <a:rPr lang="en-US" sz="1200" u="none" strike="noStrike" cap="none" baseline="0" dirty="0" err="1">
                          <a:sym typeface="Arial"/>
                        </a:rPr>
                        <a:t>smurf</a:t>
                      </a:r>
                      <a:r>
                        <a:rPr lang="en-US" sz="1200" u="none" strike="noStrike" cap="none" baseline="0" dirty="0">
                          <a:sym typeface="Arial"/>
                        </a:rPr>
                        <a:t>(665),</a:t>
                      </a:r>
                    </a:p>
                    <a:p>
                      <a:pPr algn="ctr"/>
                      <a:r>
                        <a:rPr lang="en-US" sz="1200" u="none" strike="noStrike" cap="none" baseline="0" dirty="0">
                          <a:sym typeface="Arial"/>
                        </a:rPr>
                        <a:t>teardrop(12),</a:t>
                      </a:r>
                    </a:p>
                    <a:p>
                      <a:pPr algn="ctr"/>
                      <a:r>
                        <a:rPr lang="en-US" sz="1200" u="none" strike="noStrike" cap="none" baseline="0" dirty="0" err="1">
                          <a:sym typeface="Arial"/>
                        </a:rPr>
                        <a:t>udpstorm</a:t>
                      </a:r>
                      <a:r>
                        <a:rPr lang="en-US" sz="1200" u="none" strike="noStrike" cap="none" baseline="0" dirty="0">
                          <a:sym typeface="Arial"/>
                        </a:rPr>
                        <a:t>(2), </a:t>
                      </a:r>
                    </a:p>
                    <a:p>
                      <a:pPr algn="ctr"/>
                      <a:r>
                        <a:rPr lang="en-US" sz="1200" u="none" strike="noStrike" cap="none" baseline="0" dirty="0" err="1">
                          <a:sym typeface="Arial"/>
                        </a:rPr>
                        <a:t>processtable</a:t>
                      </a:r>
                      <a:r>
                        <a:rPr lang="en-US" sz="1200" u="none" strike="noStrike" cap="none" baseline="0" dirty="0">
                          <a:sym typeface="Arial"/>
                        </a:rPr>
                        <a:t>(685),</a:t>
                      </a:r>
                    </a:p>
                    <a:p>
                      <a:pPr algn="ctr"/>
                      <a:r>
                        <a:rPr lang="en-US" sz="1200" u="none" strike="noStrike" cap="none" baseline="0" dirty="0">
                          <a:sym typeface="Arial"/>
                        </a:rPr>
                        <a:t>worm(2), </a:t>
                      </a:r>
                    </a:p>
                    <a:p>
                      <a:pPr algn="ctr"/>
                      <a:r>
                        <a:rPr lang="en-US" sz="1200" u="none" strike="noStrike" cap="none" baseline="0" dirty="0" err="1">
                          <a:sym typeface="Arial"/>
                        </a:rPr>
                        <a:t>mailbomb</a:t>
                      </a:r>
                      <a:r>
                        <a:rPr lang="en-US" sz="1200" u="none" strike="noStrike" cap="none" baseline="0" dirty="0">
                          <a:sym typeface="Arial"/>
                        </a:rPr>
                        <a:t>(293)</a:t>
                      </a:r>
                      <a:endParaRPr lang="en-US" sz="1200" dirty="0">
                        <a:solidFill>
                          <a:schemeClr val="bg1"/>
                        </a:solidFill>
                      </a:endParaRPr>
                    </a:p>
                  </a:txBody>
                  <a:tcPr anchor="ctr"/>
                </a:tc>
                <a:tc>
                  <a:txBody>
                    <a:bodyPr/>
                    <a:lstStyle/>
                    <a:p>
                      <a:pPr algn="ctr"/>
                      <a:r>
                        <a:rPr lang="en-US" sz="1200" u="none" strike="noStrike" cap="none" baseline="0" dirty="0">
                          <a:sym typeface="Arial"/>
                        </a:rPr>
                        <a:t>Satan(735),</a:t>
                      </a:r>
                    </a:p>
                    <a:p>
                      <a:pPr algn="ctr"/>
                      <a:r>
                        <a:rPr lang="en-US" sz="1200" u="none" strike="noStrike" cap="none" baseline="0" dirty="0" err="1">
                          <a:sym typeface="Arial"/>
                        </a:rPr>
                        <a:t>ipsweep</a:t>
                      </a:r>
                      <a:r>
                        <a:rPr lang="en-US" sz="1200" u="none" strike="noStrike" cap="none" baseline="0" dirty="0">
                          <a:sym typeface="Arial"/>
                        </a:rPr>
                        <a:t>(141),</a:t>
                      </a:r>
                    </a:p>
                    <a:p>
                      <a:pPr algn="ctr"/>
                      <a:r>
                        <a:rPr lang="en-US" sz="1200" u="none" strike="noStrike" cap="none" baseline="0" dirty="0" err="1">
                          <a:sym typeface="Arial"/>
                        </a:rPr>
                        <a:t>nmap</a:t>
                      </a:r>
                      <a:r>
                        <a:rPr lang="en-US" sz="1200" u="none" strike="noStrike" cap="none" baseline="0" dirty="0">
                          <a:sym typeface="Arial"/>
                        </a:rPr>
                        <a:t>(73),</a:t>
                      </a:r>
                    </a:p>
                    <a:p>
                      <a:pPr algn="ctr"/>
                      <a:r>
                        <a:rPr lang="en-US" sz="1200" u="none" strike="noStrike" cap="none" baseline="0" dirty="0" err="1">
                          <a:sym typeface="Arial"/>
                        </a:rPr>
                        <a:t>portsweep</a:t>
                      </a:r>
                      <a:r>
                        <a:rPr lang="en-US" sz="1200" u="none" strike="noStrike" cap="none" baseline="0" dirty="0">
                          <a:sym typeface="Arial"/>
                        </a:rPr>
                        <a:t>(157),</a:t>
                      </a:r>
                    </a:p>
                    <a:p>
                      <a:pPr algn="ctr"/>
                      <a:r>
                        <a:rPr lang="en-US" sz="1200" u="none" strike="noStrike" cap="none" baseline="0" dirty="0" err="1">
                          <a:sym typeface="Arial"/>
                        </a:rPr>
                        <a:t>mscan</a:t>
                      </a:r>
                      <a:r>
                        <a:rPr lang="en-US" sz="1200" u="none" strike="noStrike" cap="none" baseline="0" dirty="0">
                          <a:sym typeface="Arial"/>
                        </a:rPr>
                        <a:t>(996),</a:t>
                      </a:r>
                    </a:p>
                    <a:p>
                      <a:pPr algn="ctr"/>
                      <a:r>
                        <a:rPr lang="en-US" sz="1200" u="none" strike="noStrike" cap="none" baseline="0" dirty="0">
                          <a:sym typeface="Arial"/>
                        </a:rPr>
                        <a:t>saint(319)</a:t>
                      </a:r>
                      <a:endParaRPr lang="en-US" sz="1200" dirty="0">
                        <a:solidFill>
                          <a:schemeClr val="bg1"/>
                        </a:solidFill>
                      </a:endParaRPr>
                    </a:p>
                  </a:txBody>
                  <a:tcPr anchor="ctr"/>
                </a:tc>
                <a:tc>
                  <a:txBody>
                    <a:bodyPr/>
                    <a:lstStyle/>
                    <a:p>
                      <a:pPr algn="ctr"/>
                      <a:r>
                        <a:rPr lang="en-US" sz="1200" u="none" strike="noStrike" cap="none" baseline="0" dirty="0" err="1">
                          <a:sym typeface="Arial"/>
                        </a:rPr>
                        <a:t>guess_passwd</a:t>
                      </a:r>
                      <a:r>
                        <a:rPr lang="en-US" sz="1200" u="none" strike="noStrike" cap="none" baseline="0" dirty="0">
                          <a:sym typeface="Arial"/>
                        </a:rPr>
                        <a:t>(1,231),</a:t>
                      </a:r>
                    </a:p>
                    <a:p>
                      <a:pPr algn="ctr"/>
                      <a:r>
                        <a:rPr lang="en-US" sz="1200" u="none" strike="noStrike" cap="none" baseline="0" dirty="0" err="1">
                          <a:sym typeface="Arial"/>
                        </a:rPr>
                        <a:t>ftp_write</a:t>
                      </a:r>
                      <a:r>
                        <a:rPr lang="en-US" sz="1200" u="none" strike="noStrike" cap="none" baseline="0" dirty="0">
                          <a:sym typeface="Arial"/>
                        </a:rPr>
                        <a:t>(3),</a:t>
                      </a:r>
                    </a:p>
                    <a:p>
                      <a:pPr algn="ctr"/>
                      <a:r>
                        <a:rPr lang="en-US" sz="1200" u="none" strike="noStrike" cap="none" baseline="0" dirty="0" err="1">
                          <a:sym typeface="Arial"/>
                        </a:rPr>
                        <a:t>imap</a:t>
                      </a:r>
                      <a:r>
                        <a:rPr lang="en-US" sz="1200" u="none" strike="noStrike" cap="none" baseline="0" dirty="0">
                          <a:sym typeface="Arial"/>
                        </a:rPr>
                        <a:t>(307),</a:t>
                      </a:r>
                    </a:p>
                    <a:p>
                      <a:pPr algn="ctr"/>
                      <a:r>
                        <a:rPr lang="en-US" sz="1200" u="none" strike="noStrike" cap="none" baseline="0" dirty="0" err="1">
                          <a:sym typeface="Arial"/>
                        </a:rPr>
                        <a:t>xsnoop</a:t>
                      </a:r>
                      <a:r>
                        <a:rPr lang="en-US" sz="1200" u="none" strike="noStrike" cap="none" baseline="0" dirty="0">
                          <a:sym typeface="Arial"/>
                        </a:rPr>
                        <a:t>(4),</a:t>
                      </a:r>
                    </a:p>
                    <a:p>
                      <a:pPr algn="ctr"/>
                      <a:r>
                        <a:rPr lang="en-US" sz="1200" u="none" strike="noStrike" cap="none" baseline="0" dirty="0" err="1">
                          <a:sym typeface="Arial"/>
                        </a:rPr>
                        <a:t>phf</a:t>
                      </a:r>
                      <a:r>
                        <a:rPr lang="en-US" sz="1200" u="none" strike="noStrike" cap="none" baseline="0" dirty="0">
                          <a:sym typeface="Arial"/>
                        </a:rPr>
                        <a:t>(2), </a:t>
                      </a:r>
                    </a:p>
                    <a:p>
                      <a:pPr algn="ctr"/>
                      <a:r>
                        <a:rPr lang="en-US" sz="1200" u="none" strike="noStrike" cap="none" baseline="0" dirty="0" err="1">
                          <a:sym typeface="Arial"/>
                        </a:rPr>
                        <a:t>multihop</a:t>
                      </a:r>
                      <a:r>
                        <a:rPr lang="en-US" sz="1200" u="none" strike="noStrike" cap="none" baseline="0" dirty="0">
                          <a:sym typeface="Arial"/>
                        </a:rPr>
                        <a:t>(18), </a:t>
                      </a:r>
                    </a:p>
                    <a:p>
                      <a:pPr algn="ctr"/>
                      <a:r>
                        <a:rPr lang="en-US" sz="1200" u="none" strike="noStrike" cap="none" baseline="0" dirty="0" err="1">
                          <a:sym typeface="Arial"/>
                        </a:rPr>
                        <a:t>warezmaster</a:t>
                      </a:r>
                      <a:r>
                        <a:rPr lang="en-US" sz="1200" u="none" strike="noStrike" cap="none" baseline="0" dirty="0">
                          <a:sym typeface="Arial"/>
                        </a:rPr>
                        <a:t>(944),</a:t>
                      </a:r>
                    </a:p>
                    <a:p>
                      <a:pPr algn="ctr"/>
                      <a:r>
                        <a:rPr lang="en-US" sz="1200" u="none" strike="noStrike" cap="none" baseline="0" dirty="0" err="1">
                          <a:sym typeface="Arial"/>
                        </a:rPr>
                        <a:t>xlock</a:t>
                      </a:r>
                      <a:r>
                        <a:rPr lang="en-US" sz="1200" u="none" strike="noStrike" cap="none" baseline="0" dirty="0">
                          <a:sym typeface="Arial"/>
                        </a:rPr>
                        <a:t>(9), </a:t>
                      </a:r>
                    </a:p>
                    <a:p>
                      <a:pPr algn="ctr"/>
                      <a:r>
                        <a:rPr lang="en-US" sz="1200" u="none" strike="noStrike" cap="none" baseline="0" dirty="0" err="1">
                          <a:sym typeface="Arial"/>
                        </a:rPr>
                        <a:t>snmpguess</a:t>
                      </a:r>
                      <a:r>
                        <a:rPr lang="en-US" sz="1200" u="none" strike="noStrike" cap="none" baseline="0" dirty="0">
                          <a:sym typeface="Arial"/>
                        </a:rPr>
                        <a:t>(331),</a:t>
                      </a:r>
                    </a:p>
                    <a:p>
                      <a:pPr algn="ctr"/>
                      <a:r>
                        <a:rPr lang="en-US" sz="1200" u="none" strike="noStrike" cap="none" baseline="0" dirty="0" err="1">
                          <a:sym typeface="Arial"/>
                        </a:rPr>
                        <a:t>snmpgetattack</a:t>
                      </a:r>
                      <a:r>
                        <a:rPr lang="en-US" sz="1200" u="none" strike="noStrike" cap="none" baseline="0" dirty="0">
                          <a:sym typeface="Arial"/>
                        </a:rPr>
                        <a:t>(178), </a:t>
                      </a:r>
                    </a:p>
                    <a:p>
                      <a:pPr algn="ctr"/>
                      <a:r>
                        <a:rPr lang="en-US" sz="1200" u="none" strike="noStrike" cap="none" baseline="0" dirty="0" err="1">
                          <a:sym typeface="Arial"/>
                        </a:rPr>
                        <a:t>httptunnel</a:t>
                      </a:r>
                      <a:r>
                        <a:rPr lang="en-US" sz="1200" u="none" strike="noStrike" cap="none" baseline="0" dirty="0">
                          <a:sym typeface="Arial"/>
                        </a:rPr>
                        <a:t>(133),</a:t>
                      </a:r>
                    </a:p>
                    <a:p>
                      <a:pPr algn="ctr"/>
                      <a:r>
                        <a:rPr lang="en-US" sz="1200" u="none" strike="noStrike" cap="none" baseline="0" dirty="0" err="1">
                          <a:sym typeface="Arial"/>
                        </a:rPr>
                        <a:t>sendmail</a:t>
                      </a:r>
                      <a:r>
                        <a:rPr lang="en-US" sz="1200" u="none" strike="noStrike" cap="none" baseline="0" dirty="0">
                          <a:sym typeface="Arial"/>
                        </a:rPr>
                        <a:t>(14),</a:t>
                      </a:r>
                    </a:p>
                    <a:p>
                      <a:pPr algn="ctr"/>
                      <a:r>
                        <a:rPr lang="en-US" sz="1200" u="none" strike="noStrike" cap="none" baseline="0" dirty="0">
                          <a:sym typeface="Arial"/>
                        </a:rPr>
                        <a:t>named(17)</a:t>
                      </a:r>
                      <a:endParaRPr lang="en-US" sz="1200" dirty="0">
                        <a:solidFill>
                          <a:schemeClr val="bg1"/>
                        </a:solidFill>
                      </a:endParaRPr>
                    </a:p>
                  </a:txBody>
                  <a:tcPr anchor="ctr"/>
                </a:tc>
                <a:tc>
                  <a:txBody>
                    <a:bodyPr/>
                    <a:lstStyle/>
                    <a:p>
                      <a:pPr algn="ctr"/>
                      <a:r>
                        <a:rPr lang="en-US" sz="1200" u="none" strike="noStrike" cap="none" baseline="0" dirty="0" err="1">
                          <a:sym typeface="Arial"/>
                        </a:rPr>
                        <a:t>Buffer_overflow</a:t>
                      </a:r>
                      <a:r>
                        <a:rPr lang="en-US" sz="1200" u="none" strike="noStrike" cap="none" baseline="0" dirty="0">
                          <a:sym typeface="Arial"/>
                        </a:rPr>
                        <a:t>(20), </a:t>
                      </a:r>
                      <a:r>
                        <a:rPr lang="en-US" sz="1200" u="none" strike="noStrike" cap="none" baseline="0" dirty="0" err="1">
                          <a:sym typeface="Arial"/>
                        </a:rPr>
                        <a:t>loadmodule</a:t>
                      </a:r>
                      <a:r>
                        <a:rPr lang="en-US" sz="1200" u="none" strike="noStrike" cap="none" baseline="0" dirty="0">
                          <a:sym typeface="Arial"/>
                        </a:rPr>
                        <a:t>(2), </a:t>
                      </a:r>
                    </a:p>
                    <a:p>
                      <a:pPr algn="ctr"/>
                      <a:r>
                        <a:rPr lang="en-US" sz="1200" u="none" strike="noStrike" cap="none" baseline="0" dirty="0" err="1">
                          <a:sym typeface="Arial"/>
                        </a:rPr>
                        <a:t>xterm</a:t>
                      </a:r>
                      <a:r>
                        <a:rPr lang="en-US" sz="1200" u="none" strike="noStrike" cap="none" baseline="0" dirty="0">
                          <a:sym typeface="Arial"/>
                        </a:rPr>
                        <a:t>(13),</a:t>
                      </a:r>
                    </a:p>
                    <a:p>
                      <a:pPr algn="ctr"/>
                      <a:r>
                        <a:rPr lang="en-US" sz="1200" u="none" strike="noStrike" cap="none" baseline="0" dirty="0">
                          <a:sym typeface="Arial"/>
                        </a:rPr>
                        <a:t>rootkit(13),</a:t>
                      </a:r>
                    </a:p>
                    <a:p>
                      <a:pPr algn="ctr"/>
                      <a:r>
                        <a:rPr lang="en-US" sz="1200" u="none" strike="noStrike" cap="none" baseline="0" dirty="0" err="1">
                          <a:sym typeface="Arial"/>
                        </a:rPr>
                        <a:t>perl</a:t>
                      </a:r>
                      <a:r>
                        <a:rPr lang="en-US" sz="1200" u="none" strike="noStrike" cap="none" baseline="0" dirty="0">
                          <a:sym typeface="Arial"/>
                        </a:rPr>
                        <a:t>(2), </a:t>
                      </a:r>
                    </a:p>
                    <a:p>
                      <a:pPr algn="ctr"/>
                      <a:r>
                        <a:rPr lang="en-US" sz="1200" u="none" strike="noStrike" cap="none" baseline="0" dirty="0" err="1">
                          <a:sym typeface="Arial"/>
                        </a:rPr>
                        <a:t>sqlattack</a:t>
                      </a:r>
                      <a:r>
                        <a:rPr lang="en-US" sz="1200" u="none" strike="noStrike" cap="none" baseline="0" dirty="0">
                          <a:sym typeface="Arial"/>
                        </a:rPr>
                        <a:t>(2), </a:t>
                      </a:r>
                    </a:p>
                    <a:p>
                      <a:pPr algn="ctr"/>
                      <a:r>
                        <a:rPr lang="en-US" sz="1200" u="none" strike="noStrike" cap="none" baseline="0" dirty="0" err="1">
                          <a:sym typeface="Arial"/>
                        </a:rPr>
                        <a:t>ps</a:t>
                      </a:r>
                      <a:r>
                        <a:rPr lang="en-US" sz="1200" u="none" strike="noStrike" cap="none" baseline="0" dirty="0">
                          <a:sym typeface="Arial"/>
                        </a:rPr>
                        <a:t>(15)</a:t>
                      </a:r>
                      <a:endParaRPr lang="en-US" sz="1200" dirty="0">
                        <a:solidFill>
                          <a:schemeClr val="bg1"/>
                        </a:solidFill>
                      </a:endParaRPr>
                    </a:p>
                  </a:txBody>
                  <a:tcPr anchor="ctr"/>
                </a:tc>
                <a:extLst>
                  <a:ext uri="{0D108BD9-81ED-4DB2-BD59-A6C34878D82A}">
                    <a16:rowId xmlns:a16="http://schemas.microsoft.com/office/drawing/2014/main" xmlns="" val="10000"/>
                  </a:ext>
                </a:extLst>
              </a:tr>
            </a:tbl>
          </a:graphicData>
        </a:graphic>
      </p:graphicFrame>
      <p:sp>
        <p:nvSpPr>
          <p:cNvPr id="2" name="TextBox 1"/>
          <p:cNvSpPr txBox="1"/>
          <p:nvPr/>
        </p:nvSpPr>
        <p:spPr>
          <a:xfrm>
            <a:off x="762000" y="1349573"/>
            <a:ext cx="1066800" cy="307777"/>
          </a:xfrm>
          <a:prstGeom prst="rect">
            <a:avLst/>
          </a:prstGeom>
          <a:noFill/>
        </p:spPr>
        <p:txBody>
          <a:bodyPr wrap="square" rtlCol="0">
            <a:spAutoFit/>
          </a:bodyPr>
          <a:lstStyle/>
          <a:p>
            <a:pPr algn="ctr"/>
            <a:r>
              <a:rPr lang="en-US" b="1" dirty="0" err="1">
                <a:solidFill>
                  <a:srgbClr val="C00000"/>
                </a:solidFill>
              </a:rPr>
              <a:t>DoS</a:t>
            </a:r>
            <a:endParaRPr lang="en-US" b="1" dirty="0">
              <a:solidFill>
                <a:srgbClr val="C00000"/>
              </a:solidFill>
            </a:endParaRPr>
          </a:p>
        </p:txBody>
      </p:sp>
      <p:sp>
        <p:nvSpPr>
          <p:cNvPr id="23" name="TextBox 22"/>
          <p:cNvSpPr txBox="1"/>
          <p:nvPr/>
        </p:nvSpPr>
        <p:spPr>
          <a:xfrm>
            <a:off x="2971800" y="1352550"/>
            <a:ext cx="1066800" cy="307777"/>
          </a:xfrm>
          <a:prstGeom prst="rect">
            <a:avLst/>
          </a:prstGeom>
          <a:noFill/>
        </p:spPr>
        <p:txBody>
          <a:bodyPr wrap="square" rtlCol="0">
            <a:spAutoFit/>
          </a:bodyPr>
          <a:lstStyle/>
          <a:p>
            <a:pPr algn="ctr"/>
            <a:r>
              <a:rPr lang="en-US" b="1" dirty="0">
                <a:solidFill>
                  <a:srgbClr val="C00000"/>
                </a:solidFill>
              </a:rPr>
              <a:t>Probe</a:t>
            </a:r>
          </a:p>
        </p:txBody>
      </p:sp>
      <p:sp>
        <p:nvSpPr>
          <p:cNvPr id="24" name="TextBox 23"/>
          <p:cNvSpPr txBox="1"/>
          <p:nvPr/>
        </p:nvSpPr>
        <p:spPr>
          <a:xfrm>
            <a:off x="5105400" y="1352550"/>
            <a:ext cx="1066800" cy="307777"/>
          </a:xfrm>
          <a:prstGeom prst="rect">
            <a:avLst/>
          </a:prstGeom>
          <a:noFill/>
        </p:spPr>
        <p:txBody>
          <a:bodyPr wrap="square" rtlCol="0">
            <a:spAutoFit/>
          </a:bodyPr>
          <a:lstStyle/>
          <a:p>
            <a:pPr algn="ctr"/>
            <a:r>
              <a:rPr lang="en-US" b="1" dirty="0">
                <a:solidFill>
                  <a:srgbClr val="C00000"/>
                </a:solidFill>
              </a:rPr>
              <a:t>R2L</a:t>
            </a:r>
          </a:p>
        </p:txBody>
      </p:sp>
      <p:sp>
        <p:nvSpPr>
          <p:cNvPr id="25" name="TextBox 24"/>
          <p:cNvSpPr txBox="1"/>
          <p:nvPr/>
        </p:nvSpPr>
        <p:spPr>
          <a:xfrm>
            <a:off x="7315200" y="1352550"/>
            <a:ext cx="1066800" cy="307777"/>
          </a:xfrm>
          <a:prstGeom prst="rect">
            <a:avLst/>
          </a:prstGeom>
          <a:noFill/>
        </p:spPr>
        <p:txBody>
          <a:bodyPr wrap="square" rtlCol="0">
            <a:spAutoFit/>
          </a:bodyPr>
          <a:lstStyle/>
          <a:p>
            <a:pPr algn="ctr"/>
            <a:r>
              <a:rPr lang="en-US" b="1" dirty="0">
                <a:solidFill>
                  <a:srgbClr val="C00000"/>
                </a:solidFill>
              </a:rPr>
              <a:t>U2R</a:t>
            </a:r>
          </a:p>
        </p:txBody>
      </p:sp>
    </p:spTree>
    <p:extLst>
      <p:ext uri="{BB962C8B-B14F-4D97-AF65-F5344CB8AC3E}">
        <p14:creationId xmlns:p14="http://schemas.microsoft.com/office/powerpoint/2010/main" val="344212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dirty="0"/>
              <a:t>Encoding Labels: </a:t>
            </a:r>
            <a:r>
              <a:rPr lang="en-US" dirty="0" err="1"/>
              <a:t>LabelEncoder</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
        <p:nvSpPr>
          <p:cNvPr id="2" name="TextBox 1"/>
          <p:cNvSpPr txBox="1"/>
          <p:nvPr/>
        </p:nvSpPr>
        <p:spPr>
          <a:xfrm>
            <a:off x="1114620" y="2187614"/>
            <a:ext cx="1066800" cy="307777"/>
          </a:xfrm>
          <a:prstGeom prst="rect">
            <a:avLst/>
          </a:prstGeom>
          <a:noFill/>
        </p:spPr>
        <p:txBody>
          <a:bodyPr wrap="square" rtlCol="0">
            <a:spAutoFit/>
          </a:bodyPr>
          <a:lstStyle/>
          <a:p>
            <a:pPr algn="ctr"/>
            <a:r>
              <a:rPr lang="en-US" b="1" dirty="0" err="1">
                <a:solidFill>
                  <a:srgbClr val="C00000"/>
                </a:solidFill>
              </a:rPr>
              <a:t>DoS</a:t>
            </a:r>
            <a:r>
              <a:rPr lang="en-US" b="1" dirty="0">
                <a:solidFill>
                  <a:srgbClr val="C00000"/>
                </a:solidFill>
              </a:rPr>
              <a:t> = 1</a:t>
            </a:r>
          </a:p>
        </p:txBody>
      </p:sp>
      <p:sp>
        <p:nvSpPr>
          <p:cNvPr id="23" name="TextBox 22"/>
          <p:cNvSpPr txBox="1"/>
          <p:nvPr/>
        </p:nvSpPr>
        <p:spPr>
          <a:xfrm>
            <a:off x="582238" y="2577570"/>
            <a:ext cx="1066800" cy="307777"/>
          </a:xfrm>
          <a:prstGeom prst="rect">
            <a:avLst/>
          </a:prstGeom>
          <a:noFill/>
        </p:spPr>
        <p:txBody>
          <a:bodyPr wrap="square" rtlCol="0">
            <a:spAutoFit/>
          </a:bodyPr>
          <a:lstStyle/>
          <a:p>
            <a:pPr algn="ctr"/>
            <a:r>
              <a:rPr lang="en-US" b="1" dirty="0">
                <a:solidFill>
                  <a:srgbClr val="C00000"/>
                </a:solidFill>
              </a:rPr>
              <a:t>Probe = 2 </a:t>
            </a:r>
          </a:p>
        </p:txBody>
      </p:sp>
      <p:sp>
        <p:nvSpPr>
          <p:cNvPr id="24" name="TextBox 23"/>
          <p:cNvSpPr txBox="1"/>
          <p:nvPr/>
        </p:nvSpPr>
        <p:spPr>
          <a:xfrm>
            <a:off x="1143000" y="3028950"/>
            <a:ext cx="1066800" cy="307777"/>
          </a:xfrm>
          <a:prstGeom prst="rect">
            <a:avLst/>
          </a:prstGeom>
          <a:noFill/>
        </p:spPr>
        <p:txBody>
          <a:bodyPr wrap="square" rtlCol="0">
            <a:spAutoFit/>
          </a:bodyPr>
          <a:lstStyle/>
          <a:p>
            <a:pPr algn="ctr"/>
            <a:r>
              <a:rPr lang="en-US" b="1" dirty="0">
                <a:solidFill>
                  <a:srgbClr val="C00000"/>
                </a:solidFill>
              </a:rPr>
              <a:t>R2L = 3</a:t>
            </a:r>
          </a:p>
        </p:txBody>
      </p:sp>
      <p:sp>
        <p:nvSpPr>
          <p:cNvPr id="25" name="TextBox 24"/>
          <p:cNvSpPr txBox="1"/>
          <p:nvPr/>
        </p:nvSpPr>
        <p:spPr>
          <a:xfrm>
            <a:off x="533400" y="3409950"/>
            <a:ext cx="1066800" cy="307777"/>
          </a:xfrm>
          <a:prstGeom prst="rect">
            <a:avLst/>
          </a:prstGeom>
          <a:noFill/>
        </p:spPr>
        <p:txBody>
          <a:bodyPr wrap="square" rtlCol="0">
            <a:spAutoFit/>
          </a:bodyPr>
          <a:lstStyle/>
          <a:p>
            <a:pPr algn="ctr"/>
            <a:r>
              <a:rPr lang="en-US" b="1" dirty="0">
                <a:solidFill>
                  <a:srgbClr val="C00000"/>
                </a:solidFill>
              </a:rPr>
              <a:t>U2R = 4</a:t>
            </a:r>
          </a:p>
        </p:txBody>
      </p:sp>
      <p:sp>
        <p:nvSpPr>
          <p:cNvPr id="20" name="TextBox 19"/>
          <p:cNvSpPr txBox="1"/>
          <p:nvPr/>
        </p:nvSpPr>
        <p:spPr>
          <a:xfrm>
            <a:off x="533400" y="1809750"/>
            <a:ext cx="1162440" cy="307777"/>
          </a:xfrm>
          <a:prstGeom prst="rect">
            <a:avLst/>
          </a:prstGeom>
          <a:noFill/>
        </p:spPr>
        <p:txBody>
          <a:bodyPr wrap="square" rtlCol="0">
            <a:spAutoFit/>
          </a:bodyPr>
          <a:lstStyle/>
          <a:p>
            <a:pPr algn="ctr"/>
            <a:r>
              <a:rPr lang="en-US" b="1" dirty="0">
                <a:solidFill>
                  <a:srgbClr val="C00000"/>
                </a:solidFill>
              </a:rPr>
              <a:t>Normal = 0</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1202" y="1504950"/>
            <a:ext cx="2979998" cy="3231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0219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dirty="0"/>
              <a:t>Scaling</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970" y="1504950"/>
            <a:ext cx="2921000"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2639" y="2147359"/>
            <a:ext cx="6443663"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7389" y="2683405"/>
            <a:ext cx="6634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257550"/>
            <a:ext cx="6354763" cy="141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612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Binary &amp; Multi-class</a:t>
            </a:r>
            <a:endParaRPr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2</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341813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Classification</a:t>
            </a:r>
            <a:endParaRPr dirty="0"/>
          </a:p>
        </p:txBody>
      </p:sp>
      <p:sp>
        <p:nvSpPr>
          <p:cNvPr id="284" name="Google Shape;284;p19"/>
          <p:cNvSpPr txBox="1">
            <a:spLocks noGrp="1"/>
          </p:cNvSpPr>
          <p:nvPr>
            <p:ph type="body" idx="1"/>
          </p:nvPr>
        </p:nvSpPr>
        <p:spPr>
          <a:xfrm>
            <a:off x="1562100" y="1545076"/>
            <a:ext cx="2247900" cy="2709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dirty="0"/>
              <a:t>Binary Problem</a:t>
            </a:r>
            <a:endParaRPr b="1" dirty="0"/>
          </a:p>
          <a:p>
            <a:pPr marL="285750" indent="-285750">
              <a:spcBef>
                <a:spcPts val="1000"/>
              </a:spcBef>
            </a:pPr>
            <a:r>
              <a:rPr lang="en" dirty="0"/>
              <a:t>DoS &amp; normal</a:t>
            </a:r>
          </a:p>
          <a:p>
            <a:pPr marL="285750" indent="-285750">
              <a:spcBef>
                <a:spcPts val="1000"/>
              </a:spcBef>
            </a:pPr>
            <a:r>
              <a:rPr lang="en" dirty="0"/>
              <a:t>Probe &amp; normal</a:t>
            </a:r>
          </a:p>
          <a:p>
            <a:pPr marL="285750" indent="-285750">
              <a:spcBef>
                <a:spcPts val="1000"/>
              </a:spcBef>
            </a:pPr>
            <a:r>
              <a:rPr lang="en" dirty="0"/>
              <a:t>R2L &amp; normal</a:t>
            </a:r>
          </a:p>
          <a:p>
            <a:pPr marL="285750" indent="-285750">
              <a:spcBef>
                <a:spcPts val="1000"/>
              </a:spcBef>
            </a:pPr>
            <a:r>
              <a:rPr lang="en" dirty="0"/>
              <a:t>U2R &amp; normal</a:t>
            </a:r>
            <a:endParaRPr dirty="0"/>
          </a:p>
        </p:txBody>
      </p:sp>
      <p:sp>
        <p:nvSpPr>
          <p:cNvPr id="285" name="Google Shape;285;p19"/>
          <p:cNvSpPr txBox="1">
            <a:spLocks noGrp="1"/>
          </p:cNvSpPr>
          <p:nvPr>
            <p:ph type="body" idx="2"/>
          </p:nvPr>
        </p:nvSpPr>
        <p:spPr>
          <a:xfrm>
            <a:off x="5219700" y="1545076"/>
            <a:ext cx="2247900" cy="2709900"/>
          </a:xfrm>
          <a:prstGeom prst="rect">
            <a:avLst/>
          </a:prstGeom>
        </p:spPr>
        <p:txBody>
          <a:bodyPr spcFirstLastPara="1" wrap="square" lIns="91425" tIns="91425" rIns="91425" bIns="91425" anchor="t" anchorCtr="0">
            <a:noAutofit/>
          </a:bodyPr>
          <a:lstStyle/>
          <a:p>
            <a:pPr marL="0" lvl="0" indent="0">
              <a:buNone/>
            </a:pPr>
            <a:r>
              <a:rPr lang="en-US" b="1" dirty="0"/>
              <a:t>Multi-class Problem</a:t>
            </a:r>
          </a:p>
          <a:p>
            <a:pPr marL="285750" indent="-285750">
              <a:spcBef>
                <a:spcPts val="1000"/>
              </a:spcBef>
              <a:spcAft>
                <a:spcPts val="1000"/>
              </a:spcAft>
            </a:pPr>
            <a:r>
              <a:rPr lang="en-US" dirty="0"/>
              <a:t>N</a:t>
            </a:r>
            <a:r>
              <a:rPr lang="en" dirty="0"/>
              <a:t>ormal &amp; DoS &amp; R2L &amp; U2R </a:t>
            </a:r>
          </a:p>
          <a:p>
            <a:pPr marL="285750" indent="-285750">
              <a:spcBef>
                <a:spcPts val="1000"/>
              </a:spcBef>
              <a:spcAft>
                <a:spcPts val="1000"/>
              </a:spcAft>
            </a:pPr>
            <a:endParaRPr lang="en-US"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extLst>
      <p:ext uri="{BB962C8B-B14F-4D97-AF65-F5344CB8AC3E}">
        <p14:creationId xmlns:p14="http://schemas.microsoft.com/office/powerpoint/2010/main" val="378858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Augmentation</a:t>
            </a:r>
            <a:endParaRPr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3</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341813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Class Balancing (Before)</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761" y="1377190"/>
            <a:ext cx="2776242" cy="188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363864"/>
            <a:ext cx="2819400" cy="1911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6429" y="3106990"/>
            <a:ext cx="2637365" cy="1820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9941" y="3102287"/>
            <a:ext cx="2669117" cy="1830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1793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Techniques</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
        <p:nvSpPr>
          <p:cNvPr id="18" name="Google Shape;284;p19"/>
          <p:cNvSpPr txBox="1">
            <a:spLocks noGrp="1"/>
          </p:cNvSpPr>
          <p:nvPr>
            <p:ph type="body" idx="1"/>
          </p:nvPr>
        </p:nvSpPr>
        <p:spPr>
          <a:xfrm>
            <a:off x="838200" y="1657350"/>
            <a:ext cx="2247900" cy="2709900"/>
          </a:xfrm>
          <a:prstGeom prst="rect">
            <a:avLst/>
          </a:prstGeom>
        </p:spPr>
        <p:txBody>
          <a:bodyPr spcFirstLastPara="1" wrap="square" lIns="91425" tIns="91425" rIns="91425" bIns="91425" anchor="ctr" anchorCtr="0">
            <a:noAutofit/>
          </a:bodyPr>
          <a:lstStyle/>
          <a:p>
            <a:pPr marL="285750" indent="-285750">
              <a:spcBef>
                <a:spcPts val="1000"/>
              </a:spcBef>
              <a:spcAft>
                <a:spcPts val="1000"/>
              </a:spcAft>
            </a:pPr>
            <a:r>
              <a:rPr lang="en" dirty="0"/>
              <a:t>Undersampling</a:t>
            </a:r>
          </a:p>
          <a:p>
            <a:pPr marL="285750" indent="-285750">
              <a:spcBef>
                <a:spcPts val="1000"/>
              </a:spcBef>
              <a:spcAft>
                <a:spcPts val="1000"/>
              </a:spcAft>
            </a:pPr>
            <a:r>
              <a:rPr lang="en" dirty="0"/>
              <a:t>Oversampling</a:t>
            </a:r>
          </a:p>
          <a:p>
            <a:pPr marL="285750" indent="-285750">
              <a:spcBef>
                <a:spcPts val="1000"/>
              </a:spcBef>
              <a:spcAft>
                <a:spcPts val="1000"/>
              </a:spcAft>
            </a:pPr>
            <a:r>
              <a:rPr lang="en" dirty="0"/>
              <a:t>SMOTE</a:t>
            </a:r>
          </a:p>
        </p:txBody>
      </p:sp>
    </p:spTree>
    <p:extLst>
      <p:ext uri="{BB962C8B-B14F-4D97-AF65-F5344CB8AC3E}">
        <p14:creationId xmlns:p14="http://schemas.microsoft.com/office/powerpoint/2010/main" val="87451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Class Balancing: SMOTE (After)</a:t>
            </a:r>
            <a:endParaRPr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pic>
        <p:nvPicPr>
          <p:cNvPr id="922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428750"/>
            <a:ext cx="2743200" cy="1829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352918"/>
            <a:ext cx="3021154"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7537" y="3140408"/>
            <a:ext cx="2735126" cy="1782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5"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3502" y="3140408"/>
            <a:ext cx="2813351"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85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Features Selection</a:t>
            </a:r>
            <a:endParaRPr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4</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341813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SelectFromModel</a:t>
            </a:r>
            <a:endParaRPr dirty="0"/>
          </a:p>
        </p:txBody>
      </p:sp>
      <p:sp>
        <p:nvSpPr>
          <p:cNvPr id="284" name="Google Shape;284;p19"/>
          <p:cNvSpPr txBox="1">
            <a:spLocks noGrp="1"/>
          </p:cNvSpPr>
          <p:nvPr>
            <p:ph type="body" idx="1"/>
          </p:nvPr>
        </p:nvSpPr>
        <p:spPr>
          <a:xfrm>
            <a:off x="228600" y="1504950"/>
            <a:ext cx="1981200" cy="27099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dirty="0"/>
              <a:t>LogisticRegression</a:t>
            </a:r>
          </a:p>
        </p:txBody>
      </p:sp>
      <p:sp>
        <p:nvSpPr>
          <p:cNvPr id="285" name="Google Shape;285;p19"/>
          <p:cNvSpPr txBox="1">
            <a:spLocks noGrp="1"/>
          </p:cNvSpPr>
          <p:nvPr>
            <p:ph type="body" idx="2"/>
          </p:nvPr>
        </p:nvSpPr>
        <p:spPr>
          <a:xfrm>
            <a:off x="2362200" y="1504950"/>
            <a:ext cx="1905000" cy="2709900"/>
          </a:xfrm>
          <a:prstGeom prst="rect">
            <a:avLst/>
          </a:prstGeom>
        </p:spPr>
        <p:txBody>
          <a:bodyPr spcFirstLastPara="1" wrap="square" lIns="91425" tIns="91425" rIns="91425" bIns="91425" anchor="t" anchorCtr="0">
            <a:noAutofit/>
          </a:bodyPr>
          <a:lstStyle/>
          <a:p>
            <a:pPr marL="0" lvl="0" indent="0" algn="ctr">
              <a:buNone/>
            </a:pPr>
            <a:r>
              <a:rPr lang="en-US" b="1" dirty="0"/>
              <a:t>SVM</a:t>
            </a:r>
          </a:p>
        </p:txBody>
      </p:sp>
      <p:sp>
        <p:nvSpPr>
          <p:cNvPr id="286" name="Google Shape;286;p19"/>
          <p:cNvSpPr txBox="1">
            <a:spLocks noGrp="1"/>
          </p:cNvSpPr>
          <p:nvPr>
            <p:ph type="body" idx="3"/>
          </p:nvPr>
        </p:nvSpPr>
        <p:spPr>
          <a:xfrm>
            <a:off x="4495800" y="1504950"/>
            <a:ext cx="1905000" cy="2709900"/>
          </a:xfrm>
          <a:prstGeom prst="rect">
            <a:avLst/>
          </a:prstGeom>
        </p:spPr>
        <p:txBody>
          <a:bodyPr spcFirstLastPara="1" wrap="square" lIns="91425" tIns="91425" rIns="91425" bIns="91425" anchor="t" anchorCtr="0">
            <a:noAutofit/>
          </a:bodyPr>
          <a:lstStyle/>
          <a:p>
            <a:pPr marL="0" lvl="0" indent="0" algn="ctr">
              <a:buNone/>
            </a:pPr>
            <a:r>
              <a:rPr lang="en-US" b="1" dirty="0" err="1"/>
              <a:t>RandomForest</a:t>
            </a:r>
            <a:endParaRPr lang="en-US" b="1"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
        <p:nvSpPr>
          <p:cNvPr id="17" name="Google Shape;286;p19"/>
          <p:cNvSpPr txBox="1">
            <a:spLocks/>
          </p:cNvSpPr>
          <p:nvPr/>
        </p:nvSpPr>
        <p:spPr>
          <a:xfrm>
            <a:off x="6629400" y="1504950"/>
            <a:ext cx="1905000" cy="2709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1pPr>
            <a:lvl2pPr marL="914400" marR="0" lvl="1"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2pPr>
            <a:lvl3pPr marL="1371600" marR="0" lvl="2"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3pPr>
            <a:lvl4pPr marL="1828800" marR="0" lvl="3"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4pPr>
            <a:lvl5pPr marL="2286000" marR="0" lvl="4"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5pPr>
            <a:lvl6pPr marL="2743200" marR="0" lvl="5"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6pPr>
            <a:lvl7pPr marL="3200400" marR="0" lvl="6"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7pPr>
            <a:lvl8pPr marL="3657600" marR="0" lvl="7"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8pPr>
            <a:lvl9pPr marL="4114800" marR="0" lvl="8" indent="-342900" algn="l" rtl="0">
              <a:lnSpc>
                <a:spcPct val="100000"/>
              </a:lnSpc>
              <a:spcBef>
                <a:spcPts val="1000"/>
              </a:spcBef>
              <a:spcAft>
                <a:spcPts val="100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9pPr>
          </a:lstStyle>
          <a:p>
            <a:pPr marL="0" indent="0" algn="ctr">
              <a:buFont typeface="Roboto Condensed Light"/>
              <a:buNone/>
            </a:pPr>
            <a:r>
              <a:rPr lang="en-US" b="1" dirty="0"/>
              <a:t>LGBM</a:t>
            </a:r>
          </a:p>
          <a:p>
            <a:pPr marL="0" indent="0" algn="ctr">
              <a:spcBef>
                <a:spcPts val="1000"/>
              </a:spcBef>
              <a:spcAft>
                <a:spcPts val="1000"/>
              </a:spcAft>
              <a:buFont typeface="Roboto Condensed Light"/>
              <a:buNone/>
            </a:pPr>
            <a:endParaRPr lang="en-US" dirty="0"/>
          </a:p>
        </p:txBody>
      </p:sp>
      <p:sp>
        <p:nvSpPr>
          <p:cNvPr id="2" name="Rectangle 1"/>
          <p:cNvSpPr/>
          <p:nvPr/>
        </p:nvSpPr>
        <p:spPr>
          <a:xfrm>
            <a:off x="335513" y="2399287"/>
            <a:ext cx="1721887"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Condensed" charset="0"/>
                <a:ea typeface="Roboto Condensed" charset="0"/>
              </a:rPr>
              <a:t>Extracted features</a:t>
            </a:r>
          </a:p>
        </p:txBody>
      </p:sp>
      <p:sp>
        <p:nvSpPr>
          <p:cNvPr id="19" name="Rectangle 18"/>
          <p:cNvSpPr/>
          <p:nvPr/>
        </p:nvSpPr>
        <p:spPr>
          <a:xfrm>
            <a:off x="2438400" y="2399287"/>
            <a:ext cx="1721887"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Condensed" charset="0"/>
                <a:ea typeface="Roboto Condensed" charset="0"/>
              </a:rPr>
              <a:t>Extracted features</a:t>
            </a:r>
          </a:p>
        </p:txBody>
      </p:sp>
      <p:sp>
        <p:nvSpPr>
          <p:cNvPr id="20" name="Rectangle 19"/>
          <p:cNvSpPr/>
          <p:nvPr/>
        </p:nvSpPr>
        <p:spPr>
          <a:xfrm>
            <a:off x="4557226" y="2383394"/>
            <a:ext cx="1721887"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Condensed" charset="0"/>
                <a:ea typeface="Roboto Condensed" charset="0"/>
              </a:rPr>
              <a:t>Extracted features</a:t>
            </a:r>
          </a:p>
        </p:txBody>
      </p:sp>
      <p:sp>
        <p:nvSpPr>
          <p:cNvPr id="21" name="Rectangle 20"/>
          <p:cNvSpPr/>
          <p:nvPr/>
        </p:nvSpPr>
        <p:spPr>
          <a:xfrm>
            <a:off x="6736313" y="2383394"/>
            <a:ext cx="1721887"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Roboto Condensed" charset="0"/>
                <a:ea typeface="Roboto Condensed" charset="0"/>
              </a:rPr>
              <a:t>Extracted features</a:t>
            </a:r>
          </a:p>
        </p:txBody>
      </p:sp>
      <p:sp>
        <p:nvSpPr>
          <p:cNvPr id="3" name="Rectangle 2"/>
          <p:cNvSpPr/>
          <p:nvPr/>
        </p:nvSpPr>
        <p:spPr>
          <a:xfrm>
            <a:off x="228600" y="1637287"/>
            <a:ext cx="1905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362200" y="1637287"/>
            <a:ext cx="1905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4495800" y="1637287"/>
            <a:ext cx="1905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6629400" y="1637287"/>
            <a:ext cx="19050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a:stCxn id="3" idx="2"/>
          </p:cNvCxnSpPr>
          <p:nvPr/>
        </p:nvCxnSpPr>
        <p:spPr>
          <a:xfrm>
            <a:off x="1181100" y="2018287"/>
            <a:ext cx="0" cy="3651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3276600" y="2018287"/>
            <a:ext cx="0" cy="3651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5410200" y="2018287"/>
            <a:ext cx="0" cy="3651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7543800" y="2018287"/>
            <a:ext cx="0" cy="3651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971800" y="3389887"/>
            <a:ext cx="29718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cv</a:t>
            </a:r>
          </a:p>
        </p:txBody>
      </p:sp>
      <p:sp>
        <p:nvSpPr>
          <p:cNvPr id="7" name="TextBox 6"/>
          <p:cNvSpPr txBox="1"/>
          <p:nvPr/>
        </p:nvSpPr>
        <p:spPr>
          <a:xfrm>
            <a:off x="2705100" y="3426498"/>
            <a:ext cx="3581400" cy="307777"/>
          </a:xfrm>
          <a:prstGeom prst="rect">
            <a:avLst/>
          </a:prstGeom>
          <a:noFill/>
        </p:spPr>
        <p:txBody>
          <a:bodyPr wrap="square" rtlCol="0">
            <a:spAutoFit/>
          </a:bodyPr>
          <a:lstStyle/>
          <a:p>
            <a:pPr algn="ctr"/>
            <a:r>
              <a:rPr lang="en-US" b="1" dirty="0">
                <a:latin typeface="Roboto Condensed" charset="0"/>
                <a:ea typeface="Roboto Condensed" charset="0"/>
              </a:rPr>
              <a:t>Selected Features by at least 1 model</a:t>
            </a:r>
          </a:p>
        </p:txBody>
      </p:sp>
      <p:cxnSp>
        <p:nvCxnSpPr>
          <p:cNvPr id="9" name="Straight Arrow Connector 8"/>
          <p:cNvCxnSpPr/>
          <p:nvPr/>
        </p:nvCxnSpPr>
        <p:spPr>
          <a:xfrm>
            <a:off x="1196456" y="2780287"/>
            <a:ext cx="1622944" cy="838200"/>
          </a:xfrm>
          <a:prstGeom prst="straightConnector1">
            <a:avLst/>
          </a:prstGeom>
          <a:ln>
            <a:prstDash val="sysDash"/>
            <a:tailEnd type="arrow"/>
          </a:ln>
        </p:spPr>
        <p:style>
          <a:lnRef idx="2">
            <a:schemeClr val="accent4"/>
          </a:lnRef>
          <a:fillRef idx="0">
            <a:schemeClr val="accent4"/>
          </a:fillRef>
          <a:effectRef idx="1">
            <a:schemeClr val="accent4"/>
          </a:effectRef>
          <a:fontRef idx="minor">
            <a:schemeClr val="tx1"/>
          </a:fontRef>
        </p:style>
      </p:cxnSp>
      <p:cxnSp>
        <p:nvCxnSpPr>
          <p:cNvPr id="35" name="Straight Arrow Connector 34"/>
          <p:cNvCxnSpPr/>
          <p:nvPr/>
        </p:nvCxnSpPr>
        <p:spPr>
          <a:xfrm flipH="1">
            <a:off x="6096000" y="2780287"/>
            <a:ext cx="1451590" cy="800099"/>
          </a:xfrm>
          <a:prstGeom prst="straightConnector1">
            <a:avLst/>
          </a:prstGeom>
          <a:ln>
            <a:prstDash val="sysDash"/>
            <a:tailEnd type="arrow"/>
          </a:ln>
        </p:spPr>
        <p:style>
          <a:lnRef idx="2">
            <a:schemeClr val="accent4"/>
          </a:lnRef>
          <a:fillRef idx="0">
            <a:schemeClr val="accent4"/>
          </a:fillRef>
          <a:effectRef idx="1">
            <a:schemeClr val="accent4"/>
          </a:effectRef>
          <a:fontRef idx="minor">
            <a:schemeClr val="tx1"/>
          </a:fontRef>
        </p:style>
      </p:cxnSp>
      <p:cxnSp>
        <p:nvCxnSpPr>
          <p:cNvPr id="39" name="Straight Arrow Connector 38"/>
          <p:cNvCxnSpPr/>
          <p:nvPr/>
        </p:nvCxnSpPr>
        <p:spPr>
          <a:xfrm flipH="1">
            <a:off x="3299344" y="2780287"/>
            <a:ext cx="15356" cy="457200"/>
          </a:xfrm>
          <a:prstGeom prst="straightConnector1">
            <a:avLst/>
          </a:prstGeom>
          <a:ln>
            <a:prstDash val="sysDash"/>
            <a:tailEnd type="arrow"/>
          </a:ln>
        </p:spPr>
        <p:style>
          <a:lnRef idx="2">
            <a:schemeClr val="accent4"/>
          </a:lnRef>
          <a:fillRef idx="0">
            <a:schemeClr val="accent4"/>
          </a:fillRef>
          <a:effectRef idx="1">
            <a:schemeClr val="accent4"/>
          </a:effectRef>
          <a:fontRef idx="minor">
            <a:schemeClr val="tx1"/>
          </a:fontRef>
        </p:style>
      </p:cxnSp>
      <p:cxnSp>
        <p:nvCxnSpPr>
          <p:cNvPr id="43" name="Straight Arrow Connector 42"/>
          <p:cNvCxnSpPr/>
          <p:nvPr/>
        </p:nvCxnSpPr>
        <p:spPr>
          <a:xfrm flipH="1">
            <a:off x="5410200" y="2780287"/>
            <a:ext cx="15357" cy="457200"/>
          </a:xfrm>
          <a:prstGeom prst="straightConnector1">
            <a:avLst/>
          </a:prstGeom>
          <a:ln>
            <a:prstDash val="sysDash"/>
            <a:tailEnd type="arrow"/>
          </a:ln>
        </p:spPr>
        <p:style>
          <a:lnRef idx="2">
            <a:schemeClr val="accent4"/>
          </a:lnRef>
          <a:fillRef idx="0">
            <a:schemeClr val="accent4"/>
          </a:fillRef>
          <a:effectRef idx="1">
            <a:schemeClr val="accent4"/>
          </a:effectRef>
          <a:fontRef idx="minor">
            <a:schemeClr val="tx1"/>
          </a:fontRef>
        </p:style>
      </p:cxnSp>
      <p:cxnSp>
        <p:nvCxnSpPr>
          <p:cNvPr id="44" name="Straight Arrow Connector 43"/>
          <p:cNvCxnSpPr/>
          <p:nvPr/>
        </p:nvCxnSpPr>
        <p:spPr>
          <a:xfrm>
            <a:off x="4495800" y="3770887"/>
            <a:ext cx="0" cy="4413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3619500" y="4229245"/>
            <a:ext cx="17526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cv</a:t>
            </a:r>
          </a:p>
        </p:txBody>
      </p:sp>
      <p:sp>
        <p:nvSpPr>
          <p:cNvPr id="47" name="TextBox 46"/>
          <p:cNvSpPr txBox="1"/>
          <p:nvPr/>
        </p:nvSpPr>
        <p:spPr>
          <a:xfrm>
            <a:off x="2667000" y="4265856"/>
            <a:ext cx="3581400" cy="307777"/>
          </a:xfrm>
          <a:prstGeom prst="rect">
            <a:avLst/>
          </a:prstGeom>
          <a:noFill/>
        </p:spPr>
        <p:txBody>
          <a:bodyPr wrap="square" rtlCol="0">
            <a:spAutoFit/>
          </a:bodyPr>
          <a:lstStyle/>
          <a:p>
            <a:pPr algn="ctr"/>
            <a:r>
              <a:rPr lang="en-US" b="1" dirty="0">
                <a:latin typeface="Roboto Condensed" charset="0"/>
                <a:ea typeface="Roboto Condensed" charset="0"/>
              </a:rPr>
              <a:t>Used Features</a:t>
            </a:r>
          </a:p>
        </p:txBody>
      </p:sp>
    </p:spTree>
    <p:extLst>
      <p:ext uri="{BB962C8B-B14F-4D97-AF65-F5344CB8AC3E}">
        <p14:creationId xmlns:p14="http://schemas.microsoft.com/office/powerpoint/2010/main" val="378858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63525" y="2871148"/>
            <a:ext cx="40944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Training &amp; Testing</a:t>
            </a:r>
            <a:endParaRPr dirty="0"/>
          </a:p>
        </p:txBody>
      </p:sp>
      <p:sp>
        <p:nvSpPr>
          <p:cNvPr id="223" name="Google Shape;223;p14"/>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224" name="Google Shape;224;p14"/>
          <p:cNvSpPr txBox="1"/>
          <p:nvPr/>
        </p:nvSpPr>
        <p:spPr>
          <a:xfrm>
            <a:off x="463525" y="0"/>
            <a:ext cx="2181600" cy="3136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0" b="1" dirty="0">
                <a:solidFill>
                  <a:srgbClr val="3F5378"/>
                </a:solidFill>
                <a:latin typeface="Roboto Condensed"/>
                <a:ea typeface="Roboto Condensed"/>
                <a:cs typeface="Roboto Condensed"/>
                <a:sym typeface="Roboto Condensed"/>
              </a:rPr>
              <a:t>5</a:t>
            </a:r>
            <a:endParaRPr sz="3000" b="1" dirty="0">
              <a:solidFill>
                <a:srgbClr val="3F5378"/>
              </a:solidFill>
              <a:latin typeface="Roboto Condensed"/>
              <a:ea typeface="Roboto Condensed"/>
              <a:cs typeface="Roboto Condensed"/>
              <a:sym typeface="Roboto Condensed"/>
            </a:endParaRPr>
          </a:p>
        </p:txBody>
      </p:sp>
    </p:spTree>
    <p:extLst>
      <p:ext uri="{BB962C8B-B14F-4D97-AF65-F5344CB8AC3E}">
        <p14:creationId xmlns:p14="http://schemas.microsoft.com/office/powerpoint/2010/main" val="1341813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9"/>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Models</a:t>
            </a:r>
            <a:endParaRPr dirty="0"/>
          </a:p>
        </p:txBody>
      </p:sp>
      <p:sp>
        <p:nvSpPr>
          <p:cNvPr id="284" name="Google Shape;284;p19"/>
          <p:cNvSpPr txBox="1">
            <a:spLocks noGrp="1"/>
          </p:cNvSpPr>
          <p:nvPr>
            <p:ph type="body" idx="1"/>
          </p:nvPr>
        </p:nvSpPr>
        <p:spPr>
          <a:xfrm>
            <a:off x="1203596" y="1521995"/>
            <a:ext cx="2247900" cy="2709900"/>
          </a:xfrm>
          <a:prstGeom prst="rect">
            <a:avLst/>
          </a:prstGeom>
        </p:spPr>
        <p:txBody>
          <a:bodyPr spcFirstLastPara="1" wrap="square" lIns="91425" tIns="91425" rIns="91425" bIns="91425" anchor="t" anchorCtr="0">
            <a:noAutofit/>
          </a:bodyPr>
          <a:lstStyle/>
          <a:p>
            <a:pPr marL="0" lvl="0" indent="0" algn="ctr" rtl="0">
              <a:spcBef>
                <a:spcPts val="600"/>
              </a:spcBef>
              <a:spcAft>
                <a:spcPts val="600"/>
              </a:spcAft>
              <a:buNone/>
            </a:pPr>
            <a:r>
              <a:rPr lang="en" sz="1600" b="1" dirty="0">
                <a:solidFill>
                  <a:srgbClr val="C00000"/>
                </a:solidFill>
              </a:rPr>
              <a:t>K-Nearest Neighbor</a:t>
            </a:r>
          </a:p>
          <a:p>
            <a:pPr marL="0" lvl="0" indent="0" algn="ctr" rtl="0">
              <a:spcBef>
                <a:spcPts val="600"/>
              </a:spcBef>
              <a:spcAft>
                <a:spcPts val="600"/>
              </a:spcAft>
              <a:buNone/>
            </a:pPr>
            <a:endParaRPr sz="1600" b="1" dirty="0">
              <a:solidFill>
                <a:srgbClr val="C00000"/>
              </a:solidFill>
            </a:endParaRPr>
          </a:p>
          <a:p>
            <a:r>
              <a:rPr lang="en" sz="1400" dirty="0">
                <a:solidFill>
                  <a:srgbClr val="0070C0"/>
                </a:solidFill>
              </a:rPr>
              <a:t>Simple</a:t>
            </a:r>
          </a:p>
          <a:p>
            <a:r>
              <a:rPr lang="en" sz="1400" dirty="0">
                <a:solidFill>
                  <a:srgbClr val="0070C0"/>
                </a:solidFill>
              </a:rPr>
              <a:t>Easy to implement</a:t>
            </a:r>
          </a:p>
          <a:p>
            <a:r>
              <a:rPr lang="en-US" sz="1400" dirty="0">
                <a:solidFill>
                  <a:srgbClr val="0070C0"/>
                </a:solidFill>
              </a:rPr>
              <a:t>Slower</a:t>
            </a:r>
            <a:r>
              <a:rPr lang="en-US" sz="1400" dirty="0"/>
              <a:t> as number of examples increase</a:t>
            </a:r>
            <a:endParaRPr sz="1400" dirty="0"/>
          </a:p>
        </p:txBody>
      </p:sp>
      <p:sp>
        <p:nvSpPr>
          <p:cNvPr id="287" name="Google Shape;287;p1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grpSp>
        <p:nvGrpSpPr>
          <p:cNvPr id="288" name="Google Shape;288;p19"/>
          <p:cNvGrpSpPr/>
          <p:nvPr/>
        </p:nvGrpSpPr>
        <p:grpSpPr>
          <a:xfrm>
            <a:off x="312466" y="587260"/>
            <a:ext cx="309022" cy="376837"/>
            <a:chOff x="596350" y="929175"/>
            <a:chExt cx="407950" cy="497475"/>
          </a:xfrm>
        </p:grpSpPr>
        <p:sp>
          <p:nvSpPr>
            <p:cNvPr id="289" name="Google Shape;289;p19"/>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TextBox 14"/>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
        <p:nvSpPr>
          <p:cNvPr id="16" name="Google Shape;286;p19"/>
          <p:cNvSpPr txBox="1">
            <a:spLocks/>
          </p:cNvSpPr>
          <p:nvPr/>
        </p:nvSpPr>
        <p:spPr>
          <a:xfrm>
            <a:off x="5057680" y="1504950"/>
            <a:ext cx="2560320" cy="2709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6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1pPr>
            <a:lvl2pPr marL="914400" marR="0" lvl="1"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2pPr>
            <a:lvl3pPr marL="1371600" marR="0" lvl="2"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3pPr>
            <a:lvl4pPr marL="1828800" marR="0" lvl="3"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4pPr>
            <a:lvl5pPr marL="2286000" marR="0" lvl="4"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5pPr>
            <a:lvl6pPr marL="2743200" marR="0" lvl="5"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6pPr>
            <a:lvl7pPr marL="3200400" marR="0" lvl="6"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7pPr>
            <a:lvl8pPr marL="3657600" marR="0" lvl="7" indent="-342900" algn="l" rtl="0">
              <a:lnSpc>
                <a:spcPct val="100000"/>
              </a:lnSpc>
              <a:spcBef>
                <a:spcPts val="1000"/>
              </a:spcBef>
              <a:spcAft>
                <a:spcPts val="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8pPr>
            <a:lvl9pPr marL="4114800" marR="0" lvl="8" indent="-342900" algn="l" rtl="0">
              <a:lnSpc>
                <a:spcPct val="100000"/>
              </a:lnSpc>
              <a:spcBef>
                <a:spcPts val="1000"/>
              </a:spcBef>
              <a:spcAft>
                <a:spcPts val="1000"/>
              </a:spcAft>
              <a:buClr>
                <a:schemeClr val="accent4"/>
              </a:buClr>
              <a:buSzPts val="1800"/>
              <a:buFont typeface="Roboto Condensed Light"/>
              <a:buChar char="▻"/>
              <a:defRPr sz="1800" b="0" i="0" u="none" strike="noStrike" cap="none">
                <a:solidFill>
                  <a:schemeClr val="dk1"/>
                </a:solidFill>
                <a:latin typeface="Roboto Condensed Light"/>
                <a:ea typeface="Roboto Condensed Light"/>
                <a:cs typeface="Roboto Condensed Light"/>
                <a:sym typeface="Roboto Condensed Light"/>
              </a:defRPr>
            </a:lvl9pPr>
          </a:lstStyle>
          <a:p>
            <a:pPr marL="0" indent="0" algn="ctr">
              <a:spcAft>
                <a:spcPts val="600"/>
              </a:spcAft>
              <a:buFont typeface="Roboto Condensed Light"/>
              <a:buNone/>
            </a:pPr>
            <a:r>
              <a:rPr lang="en-US" sz="1600" b="1" dirty="0">
                <a:solidFill>
                  <a:srgbClr val="C00000"/>
                </a:solidFill>
              </a:rPr>
              <a:t>Naïve Bayes</a:t>
            </a:r>
          </a:p>
          <a:p>
            <a:pPr marL="0" indent="0" algn="ctr">
              <a:spcAft>
                <a:spcPts val="600"/>
              </a:spcAft>
              <a:buFont typeface="Roboto Condensed Light"/>
              <a:buNone/>
            </a:pPr>
            <a:endParaRPr lang="en-US" sz="1600" b="1" dirty="0">
              <a:solidFill>
                <a:srgbClr val="C00000"/>
              </a:solidFill>
            </a:endParaRPr>
          </a:p>
          <a:p>
            <a:r>
              <a:rPr lang="en-US" sz="1400" dirty="0"/>
              <a:t>Assumption: all </a:t>
            </a:r>
            <a:r>
              <a:rPr lang="en-US" sz="1400" dirty="0">
                <a:solidFill>
                  <a:srgbClr val="0070C0"/>
                </a:solidFill>
              </a:rPr>
              <a:t>features independent</a:t>
            </a:r>
          </a:p>
          <a:p>
            <a:r>
              <a:rPr lang="en-US" sz="1400" dirty="0">
                <a:solidFill>
                  <a:srgbClr val="0070C0"/>
                </a:solidFill>
              </a:rPr>
              <a:t>Works well </a:t>
            </a:r>
            <a:r>
              <a:rPr lang="en-US" sz="1400" dirty="0"/>
              <a:t>with </a:t>
            </a:r>
            <a:r>
              <a:rPr lang="en-US" sz="1400" dirty="0">
                <a:solidFill>
                  <a:srgbClr val="0070C0"/>
                </a:solidFill>
              </a:rPr>
              <a:t>high-dimensional data</a:t>
            </a:r>
          </a:p>
          <a:p>
            <a:r>
              <a:rPr lang="en-US" sz="1400" dirty="0">
                <a:solidFill>
                  <a:srgbClr val="0070C0"/>
                </a:solidFill>
              </a:rPr>
              <a:t>Less accurate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4">
                                            <p:txEl>
                                              <p:pRg st="0" end="0"/>
                                            </p:txEl>
                                          </p:spTgt>
                                        </p:tgtEl>
                                        <p:attrNameLst>
                                          <p:attrName>style.visibility</p:attrName>
                                        </p:attrNameLst>
                                      </p:cBhvr>
                                      <p:to>
                                        <p:strVal val="visible"/>
                                      </p:to>
                                    </p:set>
                                    <p:animEffect transition="in" filter="fade">
                                      <p:cBhvr>
                                        <p:cTn id="7" dur="500"/>
                                        <p:tgtEl>
                                          <p:spTgt spid="28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4">
                                            <p:txEl>
                                              <p:pRg st="2" end="2"/>
                                            </p:txEl>
                                          </p:spTgt>
                                        </p:tgtEl>
                                        <p:attrNameLst>
                                          <p:attrName>style.visibility</p:attrName>
                                        </p:attrNameLst>
                                      </p:cBhvr>
                                      <p:to>
                                        <p:strVal val="visible"/>
                                      </p:to>
                                    </p:set>
                                    <p:animEffect transition="in" filter="fade">
                                      <p:cBhvr>
                                        <p:cTn id="10" dur="500"/>
                                        <p:tgtEl>
                                          <p:spTgt spid="28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4">
                                            <p:txEl>
                                              <p:pRg st="3" end="3"/>
                                            </p:txEl>
                                          </p:spTgt>
                                        </p:tgtEl>
                                        <p:attrNameLst>
                                          <p:attrName>style.visibility</p:attrName>
                                        </p:attrNameLst>
                                      </p:cBhvr>
                                      <p:to>
                                        <p:strVal val="visible"/>
                                      </p:to>
                                    </p:set>
                                    <p:animEffect transition="in" filter="fade">
                                      <p:cBhvr>
                                        <p:cTn id="13" dur="500"/>
                                        <p:tgtEl>
                                          <p:spTgt spid="28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4">
                                            <p:txEl>
                                              <p:pRg st="4" end="4"/>
                                            </p:txEl>
                                          </p:spTgt>
                                        </p:tgtEl>
                                        <p:attrNameLst>
                                          <p:attrName>style.visibility</p:attrName>
                                        </p:attrNameLst>
                                      </p:cBhvr>
                                      <p:to>
                                        <p:strVal val="visible"/>
                                      </p:to>
                                    </p:set>
                                    <p:animEffect transition="in" filter="fade">
                                      <p:cBhvr>
                                        <p:cTn id="16" dur="500"/>
                                        <p:tgtEl>
                                          <p:spTgt spid="28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 grpId="0" build="p"/>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3" name="Google Shape;463;p2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464" name="Google Shape;464;p29"/>
          <p:cNvSpPr txBox="1">
            <a:spLocks noGrp="1"/>
          </p:cNvSpPr>
          <p:nvPr>
            <p:ph type="title" idx="4294967295"/>
          </p:nvPr>
        </p:nvSpPr>
        <p:spPr>
          <a:xfrm>
            <a:off x="1942800" y="87775"/>
            <a:ext cx="5258400" cy="76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3F5378"/>
                </a:solidFill>
              </a:rPr>
              <a:t>Results</a:t>
            </a:r>
            <a:br>
              <a:rPr lang="en" dirty="0">
                <a:solidFill>
                  <a:srgbClr val="3F5378"/>
                </a:solidFill>
              </a:rPr>
            </a:br>
            <a:r>
              <a:rPr lang="en" dirty="0">
                <a:solidFill>
                  <a:srgbClr val="3F5378"/>
                </a:solidFill>
              </a:rPr>
              <a:t>- Multi-class Problem -</a:t>
            </a:r>
            <a:endParaRPr dirty="0">
              <a:solidFill>
                <a:srgbClr val="3F5378"/>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580152493"/>
              </p:ext>
            </p:extLst>
          </p:nvPr>
        </p:nvGraphicFramePr>
        <p:xfrm>
          <a:off x="1524000" y="1504950"/>
          <a:ext cx="6096000" cy="1112520"/>
        </p:xfrm>
        <a:graphic>
          <a:graphicData uri="http://schemas.openxmlformats.org/drawingml/2006/table">
            <a:tbl>
              <a:tblPr firstRow="1" bandRow="1">
                <a:tableStyleId>{3C2FFA5D-87B4-456A-9821-1D502468CF0F}</a:tableStyleId>
              </a:tblPr>
              <a:tblGrid>
                <a:gridCol w="1219200">
                  <a:extLst>
                    <a:ext uri="{9D8B030D-6E8A-4147-A177-3AD203B41FA5}">
                      <a16:colId xmlns:a16="http://schemas.microsoft.com/office/drawing/2014/main" xmlns="" val="20000"/>
                    </a:ext>
                  </a:extLst>
                </a:gridCol>
                <a:gridCol w="1219200">
                  <a:extLst>
                    <a:ext uri="{9D8B030D-6E8A-4147-A177-3AD203B41FA5}">
                      <a16:colId xmlns:a16="http://schemas.microsoft.com/office/drawing/2014/main" xmlns="" val="20001"/>
                    </a:ext>
                  </a:extLst>
                </a:gridCol>
                <a:gridCol w="1219200">
                  <a:extLst>
                    <a:ext uri="{9D8B030D-6E8A-4147-A177-3AD203B41FA5}">
                      <a16:colId xmlns:a16="http://schemas.microsoft.com/office/drawing/2014/main" xmlns="" val="20002"/>
                    </a:ext>
                  </a:extLst>
                </a:gridCol>
                <a:gridCol w="1219200">
                  <a:extLst>
                    <a:ext uri="{9D8B030D-6E8A-4147-A177-3AD203B41FA5}">
                      <a16:colId xmlns:a16="http://schemas.microsoft.com/office/drawing/2014/main" xmlns="" val="20003"/>
                    </a:ext>
                  </a:extLst>
                </a:gridCol>
                <a:gridCol w="1219200">
                  <a:extLst>
                    <a:ext uri="{9D8B030D-6E8A-4147-A177-3AD203B41FA5}">
                      <a16:colId xmlns:a16="http://schemas.microsoft.com/office/drawing/2014/main" xmlns="" val="20004"/>
                    </a:ext>
                  </a:extLst>
                </a:gridCol>
              </a:tblGrid>
              <a:tr h="370840">
                <a:tc>
                  <a:txBody>
                    <a:bodyPr/>
                    <a:lstStyle/>
                    <a:p>
                      <a:pPr algn="ctr"/>
                      <a:r>
                        <a:rPr lang="en-US" dirty="0">
                          <a:latin typeface="Roboto Condensed" charset="0"/>
                          <a:ea typeface="Roboto Condensed" charset="0"/>
                        </a:rPr>
                        <a:t>Model</a:t>
                      </a:r>
                    </a:p>
                  </a:txBody>
                  <a:tcPr/>
                </a:tc>
                <a:tc>
                  <a:txBody>
                    <a:bodyPr/>
                    <a:lstStyle/>
                    <a:p>
                      <a:pPr algn="ctr"/>
                      <a:r>
                        <a:rPr lang="en-US" dirty="0">
                          <a:latin typeface="Roboto Condensed" charset="0"/>
                          <a:ea typeface="Roboto Condensed" charset="0"/>
                        </a:rPr>
                        <a:t>Accuracy</a:t>
                      </a:r>
                    </a:p>
                  </a:txBody>
                  <a:tcPr/>
                </a:tc>
                <a:tc>
                  <a:txBody>
                    <a:bodyPr/>
                    <a:lstStyle/>
                    <a:p>
                      <a:pPr algn="ctr"/>
                      <a:r>
                        <a:rPr lang="en-US" dirty="0">
                          <a:latin typeface="Roboto Condensed" charset="0"/>
                          <a:ea typeface="Roboto Condensed" charset="0"/>
                        </a:rPr>
                        <a:t>Precision</a:t>
                      </a:r>
                    </a:p>
                  </a:txBody>
                  <a:tcPr/>
                </a:tc>
                <a:tc>
                  <a:txBody>
                    <a:bodyPr/>
                    <a:lstStyle/>
                    <a:p>
                      <a:pPr algn="ctr"/>
                      <a:r>
                        <a:rPr lang="en-US" dirty="0">
                          <a:latin typeface="Roboto Condensed" charset="0"/>
                          <a:ea typeface="Roboto Condensed" charset="0"/>
                        </a:rPr>
                        <a:t>Recall</a:t>
                      </a:r>
                    </a:p>
                  </a:txBody>
                  <a:tcPr/>
                </a:tc>
                <a:tc>
                  <a:txBody>
                    <a:bodyPr/>
                    <a:lstStyle/>
                    <a:p>
                      <a:pPr algn="ctr"/>
                      <a:r>
                        <a:rPr lang="en-US" dirty="0">
                          <a:latin typeface="Roboto Condensed" charset="0"/>
                          <a:ea typeface="Roboto Condensed" charset="0"/>
                        </a:rPr>
                        <a:t>F1-measure</a:t>
                      </a:r>
                    </a:p>
                  </a:txBody>
                  <a:tcPr/>
                </a:tc>
                <a:extLst>
                  <a:ext uri="{0D108BD9-81ED-4DB2-BD59-A6C34878D82A}">
                    <a16:rowId xmlns:a16="http://schemas.microsoft.com/office/drawing/2014/main" xmlns="" val="10000"/>
                  </a:ext>
                </a:extLst>
              </a:tr>
              <a:tr h="370840">
                <a:tc>
                  <a:txBody>
                    <a:bodyPr/>
                    <a:lstStyle/>
                    <a:p>
                      <a:pPr algn="ctr"/>
                      <a:r>
                        <a:rPr lang="en-US" b="1" dirty="0">
                          <a:latin typeface="Roboto Condensed" charset="0"/>
                          <a:ea typeface="Roboto Condensed" charset="0"/>
                        </a:rPr>
                        <a:t>KNN</a:t>
                      </a:r>
                    </a:p>
                  </a:txBody>
                  <a:tcPr/>
                </a:tc>
                <a:tc>
                  <a:txBody>
                    <a:bodyPr/>
                    <a:lstStyle/>
                    <a:p>
                      <a:pPr algn="ctr"/>
                      <a:r>
                        <a:rPr lang="en-US" dirty="0">
                          <a:latin typeface="Roboto Condensed" charset="0"/>
                          <a:ea typeface="Roboto Condensed" charset="0"/>
                        </a:rPr>
                        <a:t>0.97</a:t>
                      </a:r>
                    </a:p>
                  </a:txBody>
                  <a:tcPr/>
                </a:tc>
                <a:tc>
                  <a:txBody>
                    <a:bodyPr/>
                    <a:lstStyle/>
                    <a:p>
                      <a:pPr algn="ctr"/>
                      <a:r>
                        <a:rPr lang="en-US" dirty="0">
                          <a:latin typeface="Roboto Condensed" charset="0"/>
                          <a:ea typeface="Roboto Condensed" charset="0"/>
                        </a:rPr>
                        <a:t>0.962</a:t>
                      </a:r>
                    </a:p>
                  </a:txBody>
                  <a:tcPr/>
                </a:tc>
                <a:tc>
                  <a:txBody>
                    <a:bodyPr/>
                    <a:lstStyle/>
                    <a:p>
                      <a:pPr algn="ctr"/>
                      <a:r>
                        <a:rPr lang="en-US" dirty="0">
                          <a:latin typeface="Roboto Condensed" charset="0"/>
                          <a:ea typeface="Roboto Condensed" charset="0"/>
                        </a:rPr>
                        <a:t>0.89</a:t>
                      </a:r>
                    </a:p>
                  </a:txBody>
                  <a:tcPr/>
                </a:tc>
                <a:tc>
                  <a:txBody>
                    <a:bodyPr/>
                    <a:lstStyle/>
                    <a:p>
                      <a:pPr algn="ctr"/>
                      <a:r>
                        <a:rPr lang="en-US" dirty="0">
                          <a:latin typeface="Roboto Condensed" charset="0"/>
                          <a:ea typeface="Roboto Condensed" charset="0"/>
                        </a:rPr>
                        <a:t>0.915</a:t>
                      </a:r>
                    </a:p>
                  </a:txBody>
                  <a:tcPr/>
                </a:tc>
                <a:extLst>
                  <a:ext uri="{0D108BD9-81ED-4DB2-BD59-A6C34878D82A}">
                    <a16:rowId xmlns:a16="http://schemas.microsoft.com/office/drawing/2014/main" xmlns="" val="10001"/>
                  </a:ext>
                </a:extLst>
              </a:tr>
              <a:tr h="370840">
                <a:tc>
                  <a:txBody>
                    <a:bodyPr/>
                    <a:lstStyle/>
                    <a:p>
                      <a:pPr algn="ctr"/>
                      <a:r>
                        <a:rPr lang="en-US" b="1" dirty="0">
                          <a:latin typeface="Roboto Condensed" charset="0"/>
                          <a:ea typeface="Roboto Condensed" charset="0"/>
                        </a:rPr>
                        <a:t>NB</a:t>
                      </a:r>
                    </a:p>
                  </a:txBody>
                  <a:tcPr/>
                </a:tc>
                <a:tc>
                  <a:txBody>
                    <a:bodyPr/>
                    <a:lstStyle/>
                    <a:p>
                      <a:pPr algn="ctr"/>
                      <a:r>
                        <a:rPr lang="en-US" dirty="0">
                          <a:latin typeface="Roboto Condensed" charset="0"/>
                          <a:ea typeface="Roboto Condensed" charset="0"/>
                        </a:rPr>
                        <a:t>0.53</a:t>
                      </a:r>
                    </a:p>
                  </a:txBody>
                  <a:tcPr/>
                </a:tc>
                <a:tc>
                  <a:txBody>
                    <a:bodyPr/>
                    <a:lstStyle/>
                    <a:p>
                      <a:pPr algn="ctr"/>
                      <a:r>
                        <a:rPr lang="en-US" dirty="0">
                          <a:latin typeface="Roboto Condensed" charset="0"/>
                          <a:ea typeface="Roboto Condensed" charset="0"/>
                        </a:rPr>
                        <a:t>0.133</a:t>
                      </a:r>
                    </a:p>
                  </a:txBody>
                  <a:tcPr/>
                </a:tc>
                <a:tc>
                  <a:txBody>
                    <a:bodyPr/>
                    <a:lstStyle/>
                    <a:p>
                      <a:pPr algn="ctr"/>
                      <a:r>
                        <a:rPr lang="en-US" dirty="0">
                          <a:latin typeface="Roboto Condensed" charset="0"/>
                          <a:ea typeface="Roboto Condensed" charset="0"/>
                        </a:rPr>
                        <a:t>0.25</a:t>
                      </a:r>
                    </a:p>
                  </a:txBody>
                  <a:tcPr/>
                </a:tc>
                <a:tc>
                  <a:txBody>
                    <a:bodyPr/>
                    <a:lstStyle/>
                    <a:p>
                      <a:pPr algn="ctr"/>
                      <a:r>
                        <a:rPr lang="en-US" dirty="0">
                          <a:latin typeface="Roboto Condensed" charset="0"/>
                          <a:ea typeface="Roboto Condensed" charset="0"/>
                        </a:rPr>
                        <a:t>0.173</a:t>
                      </a:r>
                    </a:p>
                  </a:txBody>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3" name="Google Shape;463;p29"/>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464" name="Google Shape;464;p29"/>
          <p:cNvSpPr txBox="1">
            <a:spLocks noGrp="1"/>
          </p:cNvSpPr>
          <p:nvPr>
            <p:ph type="title" idx="4294967295"/>
          </p:nvPr>
        </p:nvSpPr>
        <p:spPr>
          <a:xfrm>
            <a:off x="1942800" y="87775"/>
            <a:ext cx="5258400" cy="76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3F5378"/>
                </a:solidFill>
              </a:rPr>
              <a:t>Results</a:t>
            </a:r>
            <a:br>
              <a:rPr lang="en" dirty="0">
                <a:solidFill>
                  <a:srgbClr val="3F5378"/>
                </a:solidFill>
              </a:rPr>
            </a:br>
            <a:r>
              <a:rPr lang="en" dirty="0">
                <a:solidFill>
                  <a:srgbClr val="3F5378"/>
                </a:solidFill>
              </a:rPr>
              <a:t>- Binary Class Problem -</a:t>
            </a:r>
            <a:endParaRPr dirty="0">
              <a:solidFill>
                <a:srgbClr val="3F5378"/>
              </a:solidFill>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9637" y="1233486"/>
            <a:ext cx="3281363" cy="1287191"/>
          </a:xfrm>
          <a:prstGeom prst="rect">
            <a:avLst/>
          </a:prstGeom>
          <a:ln/>
        </p:spPr>
        <p:style>
          <a:lnRef idx="2">
            <a:schemeClr val="dk1"/>
          </a:lnRef>
          <a:fillRef idx="1">
            <a:schemeClr val="lt1"/>
          </a:fillRef>
          <a:effectRef idx="0">
            <a:schemeClr val="dk1"/>
          </a:effectRef>
          <a:fontRef idx="minor">
            <a:schemeClr val="dk1"/>
          </a:fontRef>
        </p:style>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150" y="1233487"/>
            <a:ext cx="3225800" cy="1414463"/>
          </a:xfrm>
          <a:prstGeom prst="rect">
            <a:avLst/>
          </a:prstGeom>
          <a:ln/>
        </p:spPr>
        <p:style>
          <a:lnRef idx="2">
            <a:schemeClr val="accent1"/>
          </a:lnRef>
          <a:fillRef idx="1">
            <a:schemeClr val="lt1"/>
          </a:fillRef>
          <a:effectRef idx="0">
            <a:schemeClr val="accent1"/>
          </a:effectRef>
          <a:fontRef idx="minor">
            <a:schemeClr val="dk1"/>
          </a:fontRef>
        </p:style>
      </p:pic>
      <p:pic>
        <p:nvPicPr>
          <p:cNvPr id="102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2337" y="3068637"/>
            <a:ext cx="3179763" cy="1338263"/>
          </a:xfrm>
          <a:prstGeom prst="rect">
            <a:avLst/>
          </a:prstGeom>
          <a:ln/>
        </p:spPr>
        <p:style>
          <a:lnRef idx="2">
            <a:schemeClr val="dk1"/>
          </a:lnRef>
          <a:fillRef idx="1">
            <a:schemeClr val="lt1"/>
          </a:fillRef>
          <a:effectRef idx="0">
            <a:schemeClr val="dk1"/>
          </a:effectRef>
          <a:fontRef idx="minor">
            <a:schemeClr val="dk1"/>
          </a:fontRef>
        </p:style>
      </p:pic>
      <p:sp>
        <p:nvSpPr>
          <p:cNvPr id="3" name="TextBox 2"/>
          <p:cNvSpPr txBox="1"/>
          <p:nvPr/>
        </p:nvSpPr>
        <p:spPr>
          <a:xfrm>
            <a:off x="2152650" y="893861"/>
            <a:ext cx="1066800" cy="304800"/>
          </a:xfrm>
          <a:prstGeom prst="rect">
            <a:avLst/>
          </a:prstGeom>
          <a:noFill/>
        </p:spPr>
        <p:txBody>
          <a:bodyPr wrap="square" rtlCol="0">
            <a:spAutoFit/>
          </a:bodyPr>
          <a:lstStyle/>
          <a:p>
            <a:pPr algn="ctr"/>
            <a:r>
              <a:rPr lang="en-US" b="1" dirty="0">
                <a:solidFill>
                  <a:srgbClr val="C00000"/>
                </a:solidFill>
                <a:latin typeface="Roboto Condensed" charset="0"/>
                <a:ea typeface="Roboto Condensed" charset="0"/>
              </a:rPr>
              <a:t>KNN - DoS</a:t>
            </a:r>
          </a:p>
        </p:txBody>
      </p:sp>
      <p:sp>
        <p:nvSpPr>
          <p:cNvPr id="10" name="TextBox 9"/>
          <p:cNvSpPr txBox="1"/>
          <p:nvPr/>
        </p:nvSpPr>
        <p:spPr>
          <a:xfrm>
            <a:off x="5698727" y="892373"/>
            <a:ext cx="1371600" cy="307777"/>
          </a:xfrm>
          <a:prstGeom prst="rect">
            <a:avLst/>
          </a:prstGeom>
          <a:noFill/>
        </p:spPr>
        <p:txBody>
          <a:bodyPr wrap="square" rtlCol="0">
            <a:spAutoFit/>
          </a:bodyPr>
          <a:lstStyle/>
          <a:p>
            <a:pPr algn="ctr"/>
            <a:r>
              <a:rPr lang="en-US" b="1" dirty="0">
                <a:solidFill>
                  <a:srgbClr val="C00000"/>
                </a:solidFill>
                <a:latin typeface="Roboto Condensed" charset="0"/>
                <a:ea typeface="Roboto Condensed" charset="0"/>
              </a:rPr>
              <a:t>KNN - Probe</a:t>
            </a:r>
          </a:p>
        </p:txBody>
      </p:sp>
      <p:sp>
        <p:nvSpPr>
          <p:cNvPr id="11" name="TextBox 10"/>
          <p:cNvSpPr txBox="1"/>
          <p:nvPr/>
        </p:nvSpPr>
        <p:spPr>
          <a:xfrm>
            <a:off x="2000250" y="2721173"/>
            <a:ext cx="1371600" cy="307777"/>
          </a:xfrm>
          <a:prstGeom prst="rect">
            <a:avLst/>
          </a:prstGeom>
          <a:noFill/>
        </p:spPr>
        <p:txBody>
          <a:bodyPr wrap="square" rtlCol="0">
            <a:spAutoFit/>
          </a:bodyPr>
          <a:lstStyle/>
          <a:p>
            <a:pPr algn="ctr"/>
            <a:r>
              <a:rPr lang="en-US" b="1" dirty="0">
                <a:solidFill>
                  <a:srgbClr val="C00000"/>
                </a:solidFill>
                <a:latin typeface="Roboto Condensed" charset="0"/>
                <a:ea typeface="Roboto Condensed" charset="0"/>
              </a:rPr>
              <a:t>KNN – R2L</a:t>
            </a:r>
          </a:p>
        </p:txBody>
      </p:sp>
      <p:sp>
        <p:nvSpPr>
          <p:cNvPr id="12" name="TextBox 11"/>
          <p:cNvSpPr txBox="1"/>
          <p:nvPr/>
        </p:nvSpPr>
        <p:spPr>
          <a:xfrm>
            <a:off x="5698727" y="2724150"/>
            <a:ext cx="1371600" cy="307777"/>
          </a:xfrm>
          <a:prstGeom prst="rect">
            <a:avLst/>
          </a:prstGeom>
          <a:noFill/>
        </p:spPr>
        <p:txBody>
          <a:bodyPr wrap="square" rtlCol="0">
            <a:spAutoFit/>
          </a:bodyPr>
          <a:lstStyle/>
          <a:p>
            <a:pPr algn="ctr"/>
            <a:r>
              <a:rPr lang="en-US" b="1" dirty="0">
                <a:solidFill>
                  <a:srgbClr val="C00000"/>
                </a:solidFill>
                <a:latin typeface="Roboto Condensed" charset="0"/>
                <a:ea typeface="Roboto Condensed" charset="0"/>
              </a:rPr>
              <a:t>KNN – U2R</a:t>
            </a:r>
          </a:p>
        </p:txBody>
      </p:sp>
      <p:pic>
        <p:nvPicPr>
          <p:cNvPr id="10246"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5218" y="3054350"/>
            <a:ext cx="3141663" cy="1366837"/>
          </a:xfrm>
          <a:prstGeom prst="rect">
            <a:avLst/>
          </a:prstGeom>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702664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dirty="0"/>
              <a:t>Conclusion</a:t>
            </a:r>
            <a:endParaRPr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sp>
        <p:nvSpPr>
          <p:cNvPr id="193" name="Google Shape;193;p12"/>
          <p:cNvSpPr txBox="1">
            <a:spLocks noGrp="1"/>
          </p:cNvSpPr>
          <p:nvPr>
            <p:ph type="body" idx="1"/>
          </p:nvPr>
        </p:nvSpPr>
        <p:spPr>
          <a:xfrm>
            <a:off x="403668" y="1693800"/>
            <a:ext cx="7673532" cy="1755900"/>
          </a:xfrm>
          <a:prstGeom prst="rect">
            <a:avLst/>
          </a:prstGeom>
        </p:spPr>
        <p:txBody>
          <a:bodyPr spcFirstLastPara="1" wrap="square" lIns="91425" tIns="91425" rIns="91425" bIns="91425" anchor="t" anchorCtr="0">
            <a:noAutofit/>
          </a:bodyPr>
          <a:lstStyle/>
          <a:p>
            <a:pPr lvl="0" indent="-381000">
              <a:lnSpc>
                <a:spcPct val="200000"/>
              </a:lnSpc>
              <a:spcBef>
                <a:spcPts val="0"/>
              </a:spcBef>
              <a:buSzPts val="2400"/>
            </a:pPr>
            <a:r>
              <a:rPr lang="en-US" sz="1400" dirty="0"/>
              <a:t>ML-based IDS that can be used for binary and multiclass problems</a:t>
            </a:r>
          </a:p>
          <a:p>
            <a:pPr lvl="0" indent="-381000">
              <a:lnSpc>
                <a:spcPct val="200000"/>
              </a:lnSpc>
              <a:spcBef>
                <a:spcPts val="0"/>
              </a:spcBef>
              <a:buSzPts val="2400"/>
            </a:pPr>
            <a:r>
              <a:rPr lang="en-US" sz="1400" dirty="0"/>
              <a:t>ML-based IDS focused decreasing negative alarms</a:t>
            </a:r>
          </a:p>
          <a:p>
            <a:pPr lvl="0" indent="-381000">
              <a:lnSpc>
                <a:spcPct val="200000"/>
              </a:lnSpc>
              <a:spcBef>
                <a:spcPts val="0"/>
              </a:spcBef>
              <a:buSzPts val="2400"/>
            </a:pPr>
            <a:r>
              <a:rPr lang="en-US" sz="1400" dirty="0"/>
              <a:t>ML-based IDS with different data mining algorithms</a:t>
            </a:r>
          </a:p>
          <a:p>
            <a:pPr lvl="0" indent="-381000">
              <a:spcBef>
                <a:spcPts val="0"/>
              </a:spcBef>
              <a:buSzPts val="2400"/>
            </a:pPr>
            <a:endParaRPr lang="en-US" sz="1400" dirty="0"/>
          </a:p>
          <a:p>
            <a:pPr marL="76200" lvl="0" indent="0">
              <a:spcBef>
                <a:spcPts val="0"/>
              </a:spcBef>
              <a:buSzPts val="2400"/>
              <a:buNone/>
            </a:pPr>
            <a:endParaRPr lang="en-US" sz="1400" dirty="0"/>
          </a:p>
          <a:p>
            <a:pPr marL="76200" lvl="0" indent="0">
              <a:spcBef>
                <a:spcPts val="0"/>
              </a:spcBef>
              <a:buSzPts val="2400"/>
              <a:buNone/>
            </a:pPr>
            <a:endParaRPr lang="en-US" sz="1400" dirty="0"/>
          </a:p>
          <a:p>
            <a:pPr marL="0" lvl="0" indent="0" algn="l" rtl="0">
              <a:spcBef>
                <a:spcPts val="600"/>
              </a:spcBef>
              <a:spcAft>
                <a:spcPts val="1000"/>
              </a:spcAft>
              <a:buNone/>
            </a:pPr>
            <a:endParaRPr sz="2400" dirty="0"/>
          </a:p>
        </p:txBody>
      </p:sp>
      <p:grpSp>
        <p:nvGrpSpPr>
          <p:cNvPr id="194" name="Google Shape;194;p12"/>
          <p:cNvGrpSpPr/>
          <p:nvPr/>
        </p:nvGrpSpPr>
        <p:grpSpPr>
          <a:xfrm>
            <a:off x="293683" y="574116"/>
            <a:ext cx="309041" cy="403123"/>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extLst>
      <p:ext uri="{BB962C8B-B14F-4D97-AF65-F5344CB8AC3E}">
        <p14:creationId xmlns:p14="http://schemas.microsoft.com/office/powerpoint/2010/main" val="1226125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3"/>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24" name="Google Shape;524;p33"/>
          <p:cNvSpPr txBox="1">
            <a:spLocks noGrp="1"/>
          </p:cNvSpPr>
          <p:nvPr>
            <p:ph type="ctrTitle" idx="4294967295"/>
          </p:nvPr>
        </p:nvSpPr>
        <p:spPr>
          <a:xfrm>
            <a:off x="1275150" y="2364400"/>
            <a:ext cx="6593700" cy="115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solidFill>
                  <a:schemeClr val="accent5"/>
                </a:solidFill>
              </a:rPr>
              <a:t>THANKS!</a:t>
            </a:r>
            <a:endParaRPr sz="6000">
              <a:solidFill>
                <a:schemeClr val="accent5"/>
              </a:solidFill>
            </a:endParaRPr>
          </a:p>
        </p:txBody>
      </p:sp>
      <p:sp>
        <p:nvSpPr>
          <p:cNvPr id="525" name="Google Shape;525;p33"/>
          <p:cNvSpPr txBox="1">
            <a:spLocks noGrp="1"/>
          </p:cNvSpPr>
          <p:nvPr>
            <p:ph type="subTitle" idx="4294967295"/>
          </p:nvPr>
        </p:nvSpPr>
        <p:spPr>
          <a:xfrm>
            <a:off x="1275150" y="3230000"/>
            <a:ext cx="6593700" cy="134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b="1" dirty="0"/>
              <a:t>Any questions?</a:t>
            </a:r>
            <a:endParaRPr sz="2000" b="1" dirty="0"/>
          </a:p>
        </p:txBody>
      </p:sp>
      <p:grpSp>
        <p:nvGrpSpPr>
          <p:cNvPr id="526" name="Google Shape;526;p33"/>
          <p:cNvGrpSpPr/>
          <p:nvPr/>
        </p:nvGrpSpPr>
        <p:grpSpPr>
          <a:xfrm>
            <a:off x="3996210" y="966817"/>
            <a:ext cx="1197664" cy="1126777"/>
            <a:chOff x="5972700" y="2330200"/>
            <a:chExt cx="411625" cy="387275"/>
          </a:xfrm>
        </p:grpSpPr>
        <p:sp>
          <p:nvSpPr>
            <p:cNvPr id="527" name="Google Shape;527;p33"/>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rgbClr val="3F537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TextBox 7"/>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35"/>
          <p:cNvSpPr txBox="1">
            <a:spLocks noGrp="1"/>
          </p:cNvSpPr>
          <p:nvPr>
            <p:ph type="title"/>
          </p:nvPr>
        </p:nvSpPr>
        <p:spPr>
          <a:xfrm>
            <a:off x="814275" y="392575"/>
            <a:ext cx="5492400" cy="76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REFERENCES</a:t>
            </a:r>
            <a:endParaRPr dirty="0"/>
          </a:p>
        </p:txBody>
      </p:sp>
      <p:sp>
        <p:nvSpPr>
          <p:cNvPr id="542" name="Google Shape;542;p35"/>
          <p:cNvSpPr txBox="1">
            <a:spLocks noGrp="1"/>
          </p:cNvSpPr>
          <p:nvPr>
            <p:ph type="body" idx="1"/>
          </p:nvPr>
        </p:nvSpPr>
        <p:spPr>
          <a:xfrm>
            <a:off x="1505700" y="1581150"/>
            <a:ext cx="6132600" cy="3145500"/>
          </a:xfrm>
          <a:prstGeom prst="rect">
            <a:avLst/>
          </a:prstGeom>
        </p:spPr>
        <p:txBody>
          <a:bodyPr spcFirstLastPara="1" wrap="square" lIns="91425" tIns="91425" rIns="91425" bIns="91425" anchor="ctr" anchorCtr="0">
            <a:noAutofit/>
          </a:bodyPr>
          <a:lstStyle/>
          <a:p>
            <a:pPr algn="just"/>
            <a:r>
              <a:rPr lang="en-US" sz="1100" dirty="0"/>
              <a:t>Network Intrusion Detection System Using Neural Network and Condensed Nearest Neighbors</a:t>
            </a:r>
            <a:br>
              <a:rPr lang="en-US" sz="1100" dirty="0"/>
            </a:br>
            <a:r>
              <a:rPr lang="en-US" sz="1100" dirty="0"/>
              <a:t>with Selection of NSL-KDD Influencing Features (The 2020 IEEE International Conference on</a:t>
            </a:r>
            <a:br>
              <a:rPr lang="en-US" sz="1100" dirty="0"/>
            </a:br>
            <a:r>
              <a:rPr lang="en-US" sz="1100" dirty="0"/>
              <a:t>Internet of Things and Intelligence System (</a:t>
            </a:r>
            <a:r>
              <a:rPr lang="en-US" sz="1100" dirty="0" err="1"/>
              <a:t>IoTaIS</a:t>
            </a:r>
            <a:r>
              <a:rPr lang="en-US" sz="1100" dirty="0"/>
              <a:t>))</a:t>
            </a:r>
          </a:p>
          <a:p>
            <a:pPr algn="just"/>
            <a:r>
              <a:rPr lang="en-US" sz="1100" dirty="0"/>
              <a:t>Implementing a Network Intrusion Detection System Using Semi-supervised Support Vector</a:t>
            </a:r>
            <a:br>
              <a:rPr lang="en-US" sz="1100" dirty="0"/>
            </a:br>
            <a:r>
              <a:rPr lang="en-US" sz="1100" dirty="0"/>
              <a:t>Machine and Random Forest (ACM Southeast Conference – ACMSE 2021 – Session 2: Short</a:t>
            </a:r>
            <a:br>
              <a:rPr lang="en-US" sz="1100" dirty="0"/>
            </a:br>
            <a:r>
              <a:rPr lang="en-US" sz="1100" dirty="0"/>
              <a:t>Papers – ISBN: 978-1-4503-8068-3 Virtual Event, USA, April 15-17, 2021)</a:t>
            </a:r>
          </a:p>
          <a:p>
            <a:pPr algn="just"/>
            <a:r>
              <a:rPr lang="en-US" sz="1100" dirty="0"/>
              <a:t>Intrusion Detection System for NSL-KDD Dataset Using Convolutional Neural Networks</a:t>
            </a:r>
            <a:br>
              <a:rPr lang="en-US" sz="1100" dirty="0"/>
            </a:br>
            <a:r>
              <a:rPr lang="en-US" sz="1100" dirty="0"/>
              <a:t>(Proceedings of the 2018 2nd International Conference on Computer Science and Artificial</a:t>
            </a:r>
            <a:br>
              <a:rPr lang="en-US" sz="1100" dirty="0"/>
            </a:br>
            <a:r>
              <a:rPr lang="en-US" sz="1100" dirty="0"/>
              <a:t>Intelligence, December 2018)</a:t>
            </a:r>
          </a:p>
          <a:p>
            <a:pPr algn="just"/>
            <a:r>
              <a:rPr lang="en-US" sz="1100" dirty="0"/>
              <a:t>A Network Intrusion Detection System Based on Categorical Boosting Technique using NSL-KDD</a:t>
            </a:r>
            <a:br>
              <a:rPr lang="en-US" sz="1100" dirty="0"/>
            </a:br>
            <a:r>
              <a:rPr lang="en-US" sz="1100" dirty="0"/>
              <a:t>(Indian Journal of Cryptography and Network Security (IJCNS) ISSN: 2582-9238 (Online),</a:t>
            </a:r>
            <a:br>
              <a:rPr lang="en-US" sz="1100" dirty="0"/>
            </a:br>
            <a:r>
              <a:rPr lang="en-US" sz="1100" dirty="0"/>
              <a:t>Volume-1 Issue-2, November 2021)</a:t>
            </a:r>
          </a:p>
          <a:p>
            <a:pPr algn="just"/>
            <a:r>
              <a:rPr lang="en-US" sz="1100" dirty="0"/>
              <a:t>Towards a Standard Feature Set for Network Intrusion Detection System Datasets (Mobile</a:t>
            </a:r>
            <a:br>
              <a:rPr lang="en-US" sz="1100" dirty="0"/>
            </a:br>
            <a:r>
              <a:rPr lang="en-US" sz="1100" dirty="0"/>
              <a:t>Networks and Applications </a:t>
            </a:r>
            <a:r>
              <a:rPr lang="en-US" sz="1100" u="sng" dirty="0">
                <a:hlinkClick r:id="rId3"/>
              </a:rPr>
              <a:t>https://doi.org/10.1007/s11036-021-01843-0</a:t>
            </a:r>
            <a:r>
              <a:rPr lang="en-US" sz="1100" dirty="0"/>
              <a:t>, Accepted: 31 August</a:t>
            </a:r>
            <a:br>
              <a:rPr lang="en-US" sz="1100" dirty="0"/>
            </a:br>
            <a:r>
              <a:rPr lang="en-US" sz="1100" dirty="0"/>
              <a:t>2021)</a:t>
            </a:r>
          </a:p>
          <a:p>
            <a:pPr marL="285750" indent="-171450" algn="just">
              <a:lnSpc>
                <a:spcPct val="115000"/>
              </a:lnSpc>
              <a:spcBef>
                <a:spcPts val="0"/>
              </a:spcBef>
              <a:buSzPts val="1800"/>
            </a:pPr>
            <a:endParaRPr sz="1100" dirty="0"/>
          </a:p>
        </p:txBody>
      </p:sp>
      <p:sp>
        <p:nvSpPr>
          <p:cNvPr id="544" name="Google Shape;544;p35"/>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grpSp>
        <p:nvGrpSpPr>
          <p:cNvPr id="545" name="Google Shape;545;p35"/>
          <p:cNvGrpSpPr/>
          <p:nvPr/>
        </p:nvGrpSpPr>
        <p:grpSpPr>
          <a:xfrm>
            <a:off x="283552" y="610550"/>
            <a:ext cx="330270" cy="330251"/>
            <a:chOff x="1923675" y="1633650"/>
            <a:chExt cx="436000" cy="435975"/>
          </a:xfrm>
        </p:grpSpPr>
        <p:sp>
          <p:nvSpPr>
            <p:cNvPr id="546" name="Google Shape;546;p35"/>
            <p:cNvSpPr/>
            <p:nvPr/>
          </p:nvSpPr>
          <p:spPr>
            <a:xfrm>
              <a:off x="2209250" y="1633650"/>
              <a:ext cx="150425" cy="150425"/>
            </a:xfrm>
            <a:custGeom>
              <a:avLst/>
              <a:gdLst/>
              <a:ahLst/>
              <a:cxnLst/>
              <a:rect l="l" t="t" r="r" b="b"/>
              <a:pathLst>
                <a:path w="6017" h="6017" fill="none" extrusionOk="0">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5"/>
            <p:cNvSpPr/>
            <p:nvPr/>
          </p:nvSpPr>
          <p:spPr>
            <a:xfrm>
              <a:off x="2019900" y="1757250"/>
              <a:ext cx="261825" cy="261850"/>
            </a:xfrm>
            <a:custGeom>
              <a:avLst/>
              <a:gdLst/>
              <a:ahLst/>
              <a:cxnLst/>
              <a:rect l="l" t="t" r="r" b="b"/>
              <a:pathLst>
                <a:path w="10473" h="10474" fill="none" extrusionOk="0">
                  <a:moveTo>
                    <a:pt x="10473" y="1"/>
                  </a:moveTo>
                  <a:lnTo>
                    <a:pt x="0" y="10473"/>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5"/>
            <p:cNvSpPr/>
            <p:nvPr/>
          </p:nvSpPr>
          <p:spPr>
            <a:xfrm>
              <a:off x="1923675" y="1681150"/>
              <a:ext cx="388500" cy="388475"/>
            </a:xfrm>
            <a:custGeom>
              <a:avLst/>
              <a:gdLst/>
              <a:ahLst/>
              <a:cxnLst/>
              <a:rect l="l" t="t" r="r" b="b"/>
              <a:pathLst>
                <a:path w="15540" h="15539" fill="none" extrusionOk="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5"/>
            <p:cNvSpPr/>
            <p:nvPr/>
          </p:nvSpPr>
          <p:spPr>
            <a:xfrm>
              <a:off x="1974225" y="1711575"/>
              <a:ext cx="261825" cy="261850"/>
            </a:xfrm>
            <a:custGeom>
              <a:avLst/>
              <a:gdLst/>
              <a:ahLst/>
              <a:cxnLst/>
              <a:rect l="l" t="t" r="r" b="b"/>
              <a:pathLst>
                <a:path w="10473" h="10474" fill="none" extrusionOk="0">
                  <a:moveTo>
                    <a:pt x="0" y="10474"/>
                  </a:moveTo>
                  <a:lnTo>
                    <a:pt x="10473" y="1"/>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5"/>
            <p:cNvSpPr/>
            <p:nvPr/>
          </p:nvSpPr>
          <p:spPr>
            <a:xfrm>
              <a:off x="1934650" y="2014200"/>
              <a:ext cx="44475" cy="44475"/>
            </a:xfrm>
            <a:custGeom>
              <a:avLst/>
              <a:gdLst/>
              <a:ahLst/>
              <a:cxnLst/>
              <a:rect l="l" t="t" r="r" b="b"/>
              <a:pathLst>
                <a:path w="1779" h="1779" fill="none" extrusionOk="0">
                  <a:moveTo>
                    <a:pt x="1778" y="1778"/>
                  </a:moveTo>
                  <a:lnTo>
                    <a:pt x="0" y="0"/>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5"/>
            <p:cNvSpPr/>
            <p:nvPr/>
          </p:nvSpPr>
          <p:spPr>
            <a:xfrm>
              <a:off x="1944375" y="1947225"/>
              <a:ext cx="101725" cy="101700"/>
            </a:xfrm>
            <a:custGeom>
              <a:avLst/>
              <a:gdLst/>
              <a:ahLst/>
              <a:cxnLst/>
              <a:rect l="l" t="t" r="r" b="b"/>
              <a:pathLst>
                <a:path w="4069" h="4068" fill="none" extrusionOk="0">
                  <a:moveTo>
                    <a:pt x="1" y="49"/>
                  </a:moveTo>
                  <a:lnTo>
                    <a:pt x="1" y="49"/>
                  </a:lnTo>
                  <a:lnTo>
                    <a:pt x="25" y="0"/>
                  </a:lnTo>
                  <a:lnTo>
                    <a:pt x="25" y="0"/>
                  </a:lnTo>
                  <a:lnTo>
                    <a:pt x="4068" y="4043"/>
                  </a:lnTo>
                  <a:lnTo>
                    <a:pt x="4068" y="4043"/>
                  </a:lnTo>
                  <a:lnTo>
                    <a:pt x="4068" y="4043"/>
                  </a:lnTo>
                  <a:lnTo>
                    <a:pt x="4020" y="4068"/>
                  </a:lnTo>
                </a:path>
              </a:pathLst>
            </a:custGeom>
            <a:noFill/>
            <a:ln w="12175" cap="rnd" cmpd="sng">
              <a:solidFill>
                <a:srgbClr val="FF98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TextBox 12"/>
          <p:cNvSpPr txBox="1"/>
          <p:nvPr/>
        </p:nvSpPr>
        <p:spPr>
          <a:xfrm>
            <a:off x="2971800" y="4781550"/>
            <a:ext cx="1676400" cy="276999"/>
          </a:xfrm>
          <a:prstGeom prst="rect">
            <a:avLst/>
          </a:prstGeom>
          <a:noFill/>
        </p:spPr>
        <p:txBody>
          <a:bodyPr wrap="square" rtlCol="0">
            <a:spAutoFit/>
          </a:bodyPr>
          <a:lstStyle/>
          <a:p>
            <a:pPr algn="ctr"/>
            <a:r>
              <a:rPr lang="en-US" sz="1200" dirty="0">
                <a:solidFill>
                  <a:schemeClr val="dk1"/>
                </a:solidFill>
                <a:latin typeface="Roboto Condensed Light"/>
                <a:ea typeface="Roboto Condensed Light"/>
                <a:cs typeface="Roboto Condensed Light"/>
                <a:sym typeface="Roboto Condensed Light"/>
              </a:rPr>
              <a:t>Concordia</a:t>
            </a: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1075</TotalTime>
  <Words>635</Words>
  <Application>Microsoft Office PowerPoint</Application>
  <PresentationFormat>On-screen Show (16:9)</PresentationFormat>
  <Paragraphs>257</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Cambria</vt:lpstr>
      <vt:lpstr>Roboto Condensed Light</vt:lpstr>
      <vt:lpstr>Roboto Condensed</vt:lpstr>
      <vt:lpstr>Arvo</vt:lpstr>
      <vt:lpstr>Salerio template</vt:lpstr>
      <vt:lpstr>ML-based Intrusion Detection System   Presented by Maryam Al Shami Mohamad Al Adraa</vt:lpstr>
      <vt:lpstr>Outlines</vt:lpstr>
      <vt:lpstr>Motivation</vt:lpstr>
      <vt:lpstr>Problem</vt:lpstr>
      <vt:lpstr>Proposed Solution</vt:lpstr>
      <vt:lpstr>Data set - Overview -</vt:lpstr>
      <vt:lpstr>Methodology</vt:lpstr>
      <vt:lpstr>Data Preprocessing</vt:lpstr>
      <vt:lpstr>Data Analysis</vt:lpstr>
      <vt:lpstr>Data Analysis: Binary</vt:lpstr>
      <vt:lpstr>Data Analysis: Numerical</vt:lpstr>
      <vt:lpstr>Data Analysis: Categorical</vt:lpstr>
      <vt:lpstr>Encoding Categorical Features: OneHotEncoder</vt:lpstr>
      <vt:lpstr>Encoding Labels</vt:lpstr>
      <vt:lpstr>Encoding Labels: LabelEncoder</vt:lpstr>
      <vt:lpstr>Scaling</vt:lpstr>
      <vt:lpstr>Binary &amp; Multi-class</vt:lpstr>
      <vt:lpstr>Classification</vt:lpstr>
      <vt:lpstr>Data Augmentation</vt:lpstr>
      <vt:lpstr>Class Balancing (Before)</vt:lpstr>
      <vt:lpstr>Techniques</vt:lpstr>
      <vt:lpstr>Class Balancing: SMOTE (After)</vt:lpstr>
      <vt:lpstr>Features Selection</vt:lpstr>
      <vt:lpstr>SelectFromModel</vt:lpstr>
      <vt:lpstr>Training &amp; Testing</vt:lpstr>
      <vt:lpstr>Models</vt:lpstr>
      <vt:lpstr>Results - Multi-class Problem -</vt:lpstr>
      <vt:lpstr>Results - Binary Class Problem -</vt:lpstr>
      <vt:lpstr>Conclusion</vt:lpstr>
      <vt:lpstr>THANKS!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Intrusion Detection System   Presented by Maryam Al Shami Mohamad Al Adraa</dc:title>
  <dc:creator>Maryam</dc:creator>
  <cp:lastModifiedBy>HP</cp:lastModifiedBy>
  <cp:revision>151</cp:revision>
  <dcterms:modified xsi:type="dcterms:W3CDTF">2022-04-15T06:11:13Z</dcterms:modified>
</cp:coreProperties>
</file>